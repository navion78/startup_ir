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F6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06640" y="0"/>
            <a:ext cx="4800600" cy="6858000"/>
          </a:xfrm>
          <a:prstGeom prst="roundRect">
            <a:avLst/>
          </a:prstGeom>
          <a:solidFill>
            <a:srgbClr val="0A372D"/>
          </a:solidFill>
          <a:ln w="10160">
            <a:solidFill>
              <a:srgbClr val="0A3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1005840"/>
            <a:ext cx="2651760" cy="2651760"/>
          </a:xfrm>
          <a:prstGeom prst="ellipse">
            <a:avLst/>
          </a:prstGeom>
          <a:solidFill>
            <a:srgbClr val="118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2651760"/>
            <a:ext cx="2011680" cy="2011680"/>
          </a:xfrm>
          <a:prstGeom prst="ellipse">
            <a:avLst/>
          </a:prstGeom>
          <a:solidFill>
            <a:srgbClr val="19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79" y="4206240"/>
            <a:ext cx="1554480" cy="1554480"/>
          </a:xfrm>
          <a:prstGeom prst="ellipse">
            <a:avLst/>
          </a:prstGeom>
          <a:solidFill>
            <a:srgbClr val="4B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1845D"/>
                </a:solidFill>
                <a:latin typeface="Pretendard"/>
              </a:defRPr>
            </a:pPr>
            <a:r>
              <a:t>[회사 로고 / COMPANY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6126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A372D"/>
                </a:solidFill>
                <a:latin typeface="Pretendard"/>
              </a:defRPr>
            </a:pPr>
            <a:r>
              <a:t>[한 문장으로 정의하는</a:t>
            </a:r>
          </a:p>
          <a:p>
            <a:pPr>
              <a:defRPr sz="3400" b="1">
                <a:solidFill>
                  <a:srgbClr val="0A372D"/>
                </a:solidFill>
                <a:latin typeface="Pretendard"/>
              </a:defRPr>
            </a:pPr>
            <a:r>
              <a:t>핵심 가치 제안]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C716A"/>
                </a:solidFill>
                <a:latin typeface="Pretendard"/>
              </a:defRPr>
            </a:pPr>
            <a:r>
              <a:t>[제품·기술 정의] · [핵심 고객]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[대표자]  |  [작성일]  |  [연락처]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080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Pretendard"/>
              </a:defRPr>
            </a:pPr>
            <a:r>
              <a:t>INVESTOR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256032"/>
            <a:ext cx="73152" cy="438912"/>
          </a:xfrm>
          <a:prstGeom prst="roundRect">
            <a:avLst/>
          </a:prstGeom>
          <a:solidFill>
            <a:srgbClr val="11845D"/>
          </a:solidFill>
          <a:ln w="10160">
            <a:solidFill>
              <a:srgbClr val="11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0332C"/>
                </a:solidFill>
                <a:latin typeface="Pretendard"/>
              </a:defRPr>
            </a:pPr>
            <a:r>
              <a:t>02  |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321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716A"/>
                </a:solidFill>
                <a:latin typeface="Pretendard"/>
              </a:defRPr>
            </a:pPr>
            <a:r>
              <a:t>고객 과업 → 기존 대안 → 병목 → 사업적 손실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1097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845D"/>
                </a:solidFill>
                <a:latin typeface="Pretendard"/>
              </a:defRPr>
            </a:pPr>
            <a:r>
              <a:t>GREEN IR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6492240"/>
            <a:ext cx="11448288" cy="0"/>
          </a:xfrm>
          <a:prstGeom prst="line">
            <a:avLst/>
          </a:prstGeom>
          <a:ln w="17780">
            <a:solidFill>
              <a:srgbClr val="D4E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52881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716A"/>
                </a:solidFill>
                <a:latin typeface="Pretendard"/>
              </a:defRPr>
            </a:pPr>
            <a:r>
              <a:t>[회사명] · 내부검토용 · 실제 성과/계획 구분 · 출처 기재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96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716A"/>
                </a:solidFill>
                <a:latin typeface="Pretendard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2514600" cy="219456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057400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고객 과업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21488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[고객의 핵심 목표]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9816" y="277063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1845D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1874519"/>
            <a:ext cx="2514600" cy="219456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2057400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기존 방식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651760"/>
            <a:ext cx="21488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[현행 프로세스]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2" y="277063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1845D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874519"/>
            <a:ext cx="2514600" cy="2194560"/>
          </a:xfrm>
          <a:prstGeom prst="roundRect">
            <a:avLst/>
          </a:prstGeom>
          <a:solidFill>
            <a:srgbClr val="FFF1D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057400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핵심 병목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651760"/>
            <a:ext cx="21488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[실패·지연·비용]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277063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1845D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1874519"/>
            <a:ext cx="2514600" cy="219456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36024" y="2057400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사업적 손실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2651760"/>
            <a:ext cx="21488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[고객 영향]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09160"/>
            <a:ext cx="11100816" cy="1005840"/>
          </a:xfrm>
          <a:prstGeom prst="roundRect">
            <a:avLst/>
          </a:prstGeom>
          <a:solidFill>
            <a:srgbClr val="0A372D"/>
          </a:solidFill>
          <a:ln w="10160">
            <a:solidFill>
              <a:srgbClr val="0A3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992624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[고객이 구매할 이유를 한 문장으로 제시]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256032"/>
            <a:ext cx="73152" cy="438912"/>
          </a:xfrm>
          <a:prstGeom prst="roundRect">
            <a:avLst/>
          </a:prstGeom>
          <a:solidFill>
            <a:srgbClr val="11845D"/>
          </a:solidFill>
          <a:ln w="10160">
            <a:solidFill>
              <a:srgbClr val="11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0332C"/>
                </a:solidFill>
                <a:latin typeface="Pretendard"/>
              </a:defRPr>
            </a:pPr>
            <a:r>
              <a:t>03  | 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321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716A"/>
                </a:solidFill>
                <a:latin typeface="Pretendard"/>
              </a:defRPr>
            </a:pPr>
            <a:r>
              <a:t>기존 방식 대비 고객 가치 · 기술 검증 범위 구분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1097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845D"/>
                </a:solidFill>
                <a:latin typeface="Pretendard"/>
              </a:defRPr>
            </a:pPr>
            <a:r>
              <a:t>GREEN IR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6492240"/>
            <a:ext cx="11448288" cy="0"/>
          </a:xfrm>
          <a:prstGeom prst="line">
            <a:avLst/>
          </a:prstGeom>
          <a:ln w="17780">
            <a:solidFill>
              <a:srgbClr val="D4E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52881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716A"/>
                </a:solidFill>
                <a:latin typeface="Pretendard"/>
              </a:defRPr>
            </a:pPr>
            <a:r>
              <a:t>[회사명] · 내부검토용 · 실제 성과/계획 구분 · 출처 기재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96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716A"/>
                </a:solidFill>
                <a:latin typeface="Pretendard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2880360" cy="434340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691639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기존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2514600" cy="3465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[기존 1]</a:t>
            </a:r>
          </a:p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</a:p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[기존 2]</a:t>
            </a:r>
          </a:p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</a:p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[구조적 한계]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1845D"/>
                </a:solidFill>
                <a:latin typeface="Pretendard"/>
              </a:defRPr>
            </a:pPr>
            <a: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7952" y="1508760"/>
            <a:ext cx="7443216" cy="4343400"/>
          </a:xfrm>
          <a:prstGeom prst="roundRect">
            <a:avLst/>
          </a:prstGeom>
          <a:solidFill>
            <a:srgbClr val="E5F4EC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76479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372D"/>
                </a:solidFill>
                <a:latin typeface="Pretendard"/>
              </a:defRPr>
            </a:pPr>
            <a:r>
              <a:t>[차별화된 솔루션]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788920"/>
            <a:ext cx="1527048" cy="160020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2971800"/>
            <a:ext cx="12070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요구조건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566160"/>
            <a:ext cx="116128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[핵심 기능]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2744" y="334670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1845D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1" y="2788920"/>
            <a:ext cx="1527048" cy="160020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971800"/>
            <a:ext cx="12070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AI·기술 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566160"/>
            <a:ext cx="116128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[핵심 기능]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334670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1845D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64423" y="2788920"/>
            <a:ext cx="1527048" cy="160020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59" y="2971800"/>
            <a:ext cx="12070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3" y="3566160"/>
            <a:ext cx="116128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[핵심 기능]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328" y="334670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1845D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29216" y="2788920"/>
            <a:ext cx="1527048" cy="160020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2952" y="2971800"/>
            <a:ext cx="12070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고객 산출물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6" y="3566160"/>
            <a:ext cx="116128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[핵심 기능]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992624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845D"/>
                </a:solidFill>
                <a:latin typeface="Pretendard"/>
              </a:defRPr>
            </a:pPr>
            <a:r>
              <a:t>[검증된 차별점 / 개발 중인 차별점 구분]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256032"/>
            <a:ext cx="73152" cy="438912"/>
          </a:xfrm>
          <a:prstGeom prst="roundRect">
            <a:avLst/>
          </a:prstGeom>
          <a:solidFill>
            <a:srgbClr val="11845D"/>
          </a:solidFill>
          <a:ln w="10160">
            <a:solidFill>
              <a:srgbClr val="11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0332C"/>
                </a:solidFill>
                <a:latin typeface="Pretendard"/>
              </a:defRPr>
            </a:pPr>
            <a:r>
              <a:t>04  |  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321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716A"/>
                </a:solidFill>
                <a:latin typeface="Pretendard"/>
              </a:defRPr>
            </a:pPr>
            <a:r>
              <a:t>완료 · 진행 중 · 목표를 구분하여 검증 수치 중심 제시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1097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845D"/>
                </a:solidFill>
                <a:latin typeface="Pretendard"/>
              </a:defRPr>
            </a:pPr>
            <a:r>
              <a:t>GREEN IR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6492240"/>
            <a:ext cx="11448288" cy="0"/>
          </a:xfrm>
          <a:prstGeom prst="line">
            <a:avLst/>
          </a:prstGeom>
          <a:ln w="17780">
            <a:solidFill>
              <a:srgbClr val="D4E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52881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716A"/>
                </a:solidFill>
                <a:latin typeface="Pretendard"/>
              </a:defRPr>
            </a:pPr>
            <a:r>
              <a:t>[회사명] · 내부검토용 · 실제 성과/계획 구분 · 출처 기재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96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716A"/>
                </a:solidFill>
                <a:latin typeface="Pretendard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45920"/>
            <a:ext cx="3429000" cy="320040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고객·수요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063240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[고객 수 / VOC]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880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1845D"/>
                </a:solidFill>
                <a:latin typeface="Pretendard"/>
              </a:defRPr>
            </a:pPr>
            <a:r>
              <a:t>[핵심 KPI]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645920"/>
            <a:ext cx="3429000" cy="320040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182880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PoC·성능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423160"/>
            <a:ext cx="3063240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[측정 결과 / 기간]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880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1845D"/>
                </a:solidFill>
                <a:latin typeface="Pretendard"/>
              </a:defRPr>
            </a:pPr>
            <a:r>
              <a:t>[핵심 KPI]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0456" y="1645920"/>
            <a:ext cx="3429000" cy="320040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82880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유료 전환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423160"/>
            <a:ext cx="3063240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[계약 / 매출]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880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1845D"/>
                </a:solidFill>
                <a:latin typeface="Pretendard"/>
              </a:defRPr>
            </a:pPr>
            <a:r>
              <a:t>[핵심 KPI]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166360"/>
            <a:ext cx="11064240" cy="749808"/>
          </a:xfrm>
          <a:prstGeom prst="roundRect">
            <a:avLst/>
          </a:prstGeom>
          <a:solidFill>
            <a:srgbClr val="0A372D"/>
          </a:solidFill>
          <a:ln w="10160">
            <a:solidFill>
              <a:srgbClr val="0A3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7667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[가장 설득력 있는 실제 검증 성과]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256032"/>
            <a:ext cx="73152" cy="438912"/>
          </a:xfrm>
          <a:prstGeom prst="roundRect">
            <a:avLst/>
          </a:prstGeom>
          <a:solidFill>
            <a:srgbClr val="11845D"/>
          </a:solidFill>
          <a:ln w="10160">
            <a:solidFill>
              <a:srgbClr val="11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0332C"/>
                </a:solidFill>
                <a:latin typeface="Pretendard"/>
              </a:defRPr>
            </a:pPr>
            <a:r>
              <a:t>05  |  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321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716A"/>
                </a:solidFill>
                <a:latin typeface="Pretendard"/>
              </a:defRPr>
            </a:pPr>
            <a:r>
              <a:t>TAM / SAM / SOM 정의·지역·연도·산식·출처 필수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1097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845D"/>
                </a:solidFill>
                <a:latin typeface="Pretendard"/>
              </a:defRPr>
            </a:pPr>
            <a:r>
              <a:t>GREEN IR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6492240"/>
            <a:ext cx="11448288" cy="0"/>
          </a:xfrm>
          <a:prstGeom prst="line">
            <a:avLst/>
          </a:prstGeom>
          <a:ln w="17780">
            <a:solidFill>
              <a:srgbClr val="D4E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52881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716A"/>
                </a:solidFill>
                <a:latin typeface="Pretendard"/>
              </a:defRPr>
            </a:pPr>
            <a:r>
              <a:t>[회사명] · 내부검토용 · 실제 성과/계획 구분 · 출처 기재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96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716A"/>
                </a:solidFill>
                <a:latin typeface="Pretendard"/>
              </a:defRPr>
            </a:pPr>
            <a:r>
              <a:t>05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1463040"/>
            <a:ext cx="4297680" cy="4297680"/>
          </a:xfrm>
          <a:prstGeom prst="ellipse">
            <a:avLst/>
          </a:prstGeom>
          <a:solidFill>
            <a:srgbClr val="E5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45920" y="2103120"/>
            <a:ext cx="3017520" cy="3017520"/>
          </a:xfrm>
          <a:prstGeom prst="ellipse">
            <a:avLst/>
          </a:prstGeom>
          <a:solidFill>
            <a:srgbClr val="A9D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31720" y="2788920"/>
            <a:ext cx="1645920" cy="1645920"/>
          </a:xfrm>
          <a:prstGeom prst="ellipse">
            <a:avLst/>
          </a:prstGeom>
          <a:solidFill>
            <a:srgbClr val="118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1810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TAM  [금액]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5420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SAM  [금액]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38328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Pretendard"/>
              </a:defRPr>
            </a:pPr>
            <a:r>
              <a:t>SOM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508760"/>
            <a:ext cx="5669280" cy="1161288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25896" y="1691639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TAM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286000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[전체 잠재시장 / 범위]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2880360"/>
            <a:ext cx="5669280" cy="1161288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25896" y="306324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SAM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657600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[서비스 가능시장 / 범위]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4251960"/>
            <a:ext cx="5669280" cy="1161288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25896" y="4434840"/>
            <a:ext cx="5349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5029200"/>
            <a:ext cx="53035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[고객수 × 도입률 × 단가]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58521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716A"/>
                </a:solidFill>
                <a:latin typeface="Pretendard"/>
              </a:defRPr>
            </a:pPr>
            <a:r>
              <a:t>출처: [기관·보고서·발표연도·페이지]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256032"/>
            <a:ext cx="73152" cy="438912"/>
          </a:xfrm>
          <a:prstGeom prst="roundRect">
            <a:avLst/>
          </a:prstGeom>
          <a:solidFill>
            <a:srgbClr val="11845D"/>
          </a:solidFill>
          <a:ln w="10160">
            <a:solidFill>
              <a:srgbClr val="11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0332C"/>
                </a:solidFill>
                <a:latin typeface="Pretendard"/>
              </a:defRPr>
            </a:pPr>
            <a:r>
              <a:t>06  | 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321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716A"/>
                </a:solidFill>
                <a:latin typeface="Pretendard"/>
              </a:defRPr>
            </a:pPr>
            <a:r>
              <a:t>고객·제품·전달·수익의 현금흐름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1097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845D"/>
                </a:solidFill>
                <a:latin typeface="Pretendard"/>
              </a:defRPr>
            </a:pPr>
            <a:r>
              <a:t>GREEN IR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6492240"/>
            <a:ext cx="11448288" cy="0"/>
          </a:xfrm>
          <a:prstGeom prst="line">
            <a:avLst/>
          </a:prstGeom>
          <a:ln w="17780">
            <a:solidFill>
              <a:srgbClr val="D4E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52881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716A"/>
                </a:solidFill>
                <a:latin typeface="Pretendard"/>
              </a:defRPr>
            </a:pPr>
            <a:r>
              <a:t>[회사명] · 내부검토용 · 실제 성과/계획 구분 · 출처 기재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96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716A"/>
                </a:solidFill>
                <a:latin typeface="Pretendard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64208"/>
            <a:ext cx="2542032" cy="219456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847088"/>
            <a:ext cx="22219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고객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41448"/>
            <a:ext cx="217627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[세그먼트]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6060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1845D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664208"/>
            <a:ext cx="2542032" cy="219456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6" y="1847088"/>
            <a:ext cx="22219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가치 제공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441448"/>
            <a:ext cx="217627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[제품·서비스]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6060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1845D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664208"/>
            <a:ext cx="2542032" cy="219456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1847088"/>
            <a:ext cx="22219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전달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41448"/>
            <a:ext cx="217627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[채널·파트너]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26060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1845D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664208"/>
            <a:ext cx="2542032" cy="219456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7736" y="1847088"/>
            <a:ext cx="22219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수익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441448"/>
            <a:ext cx="217627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[단가·주기]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370832"/>
            <a:ext cx="3456432" cy="132588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4553712"/>
            <a:ext cx="31363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프로젝트형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148072"/>
            <a:ext cx="309067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[유료 PoC]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8" y="4370832"/>
            <a:ext cx="3456432" cy="132588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9704" y="4553712"/>
            <a:ext cx="31363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반복매출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5148072"/>
            <a:ext cx="309067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[라이선스 / API]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29016" y="4370832"/>
            <a:ext cx="3456432" cy="132588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4553712"/>
            <a:ext cx="31363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고부가가치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5148072"/>
            <a:ext cx="3090672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[맞춤형 개발]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256032"/>
            <a:ext cx="73152" cy="438912"/>
          </a:xfrm>
          <a:prstGeom prst="roundRect">
            <a:avLst/>
          </a:prstGeom>
          <a:solidFill>
            <a:srgbClr val="11845D"/>
          </a:solidFill>
          <a:ln w="10160">
            <a:solidFill>
              <a:srgbClr val="11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0332C"/>
                </a:solidFill>
                <a:latin typeface="Pretendard"/>
              </a:defRPr>
            </a:pPr>
            <a:r>
              <a:t>07  |  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321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716A"/>
                </a:solidFill>
                <a:latin typeface="Pretendard"/>
              </a:defRPr>
            </a:pPr>
            <a:r>
              <a:t>유입 → PoC → 계약 → 확장, 단계별 전환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1097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845D"/>
                </a:solidFill>
                <a:latin typeface="Pretendard"/>
              </a:defRPr>
            </a:pPr>
            <a:r>
              <a:t>GREEN IR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6492240"/>
            <a:ext cx="11448288" cy="0"/>
          </a:xfrm>
          <a:prstGeom prst="line">
            <a:avLst/>
          </a:prstGeom>
          <a:ln w="17780">
            <a:solidFill>
              <a:srgbClr val="D4E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52881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716A"/>
                </a:solidFill>
                <a:latin typeface="Pretendard"/>
              </a:defRPr>
            </a:pPr>
            <a:r>
              <a:t>[회사명] · 내부검토용 · 실제 성과/계획 구분 · 출처 기재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96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716A"/>
                </a:solidFill>
                <a:latin typeface="Pretendard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2542032" cy="242316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057400"/>
            <a:ext cx="22219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유입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2176272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[접점]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8529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1845D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874519"/>
            <a:ext cx="2542032" cy="242316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6" y="2057400"/>
            <a:ext cx="22219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51760"/>
            <a:ext cx="2176272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[PoC]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8529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1845D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74519"/>
            <a:ext cx="2542032" cy="242316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057400"/>
            <a:ext cx="22219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유료계약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651760"/>
            <a:ext cx="2176272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[구매]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28529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1845D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874519"/>
            <a:ext cx="2542032" cy="242316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7736" y="2057400"/>
            <a:ext cx="22219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확장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651760"/>
            <a:ext cx="2176272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[반복/업셀]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46320"/>
            <a:ext cx="11064240" cy="822960"/>
          </a:xfrm>
          <a:prstGeom prst="roundRect">
            <a:avLst/>
          </a:prstGeom>
          <a:solidFill>
            <a:srgbClr val="0A372D"/>
          </a:solidFill>
          <a:ln w="10160">
            <a:solidFill>
              <a:srgbClr val="0A3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1023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[채널별 리드 · 전환율 · 고객획득비용 · 계약 주기]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256032"/>
            <a:ext cx="73152" cy="438912"/>
          </a:xfrm>
          <a:prstGeom prst="roundRect">
            <a:avLst/>
          </a:prstGeom>
          <a:solidFill>
            <a:srgbClr val="11845D"/>
          </a:solidFill>
          <a:ln w="10160">
            <a:solidFill>
              <a:srgbClr val="11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0332C"/>
                </a:solidFill>
                <a:latin typeface="Pretendard"/>
              </a:defRPr>
            </a:pPr>
            <a:r>
              <a:t>08  | 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321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716A"/>
                </a:solidFill>
                <a:latin typeface="Pretendard"/>
              </a:defRPr>
            </a:pPr>
            <a:r>
              <a:t>비교 항목은 구매기준 · 미확인 기능을 ‘미지원’으로 단정 금지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1097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845D"/>
                </a:solidFill>
                <a:latin typeface="Pretendard"/>
              </a:defRPr>
            </a:pPr>
            <a:r>
              <a:t>GREEN IR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6492240"/>
            <a:ext cx="11448288" cy="0"/>
          </a:xfrm>
          <a:prstGeom prst="line">
            <a:avLst/>
          </a:prstGeom>
          <a:ln w="17780">
            <a:solidFill>
              <a:srgbClr val="D4E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52881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716A"/>
                </a:solidFill>
                <a:latin typeface="Pretendard"/>
              </a:defRPr>
            </a:pPr>
            <a:r>
              <a:t>[회사명] · 내부검토용 · 실제 성과/계획 구분 · 출처 기재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96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716A"/>
                </a:solidFill>
                <a:latin typeface="Pretendard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91056"/>
            <a:ext cx="2971800" cy="594360"/>
          </a:xfrm>
          <a:prstGeom prst="roundRect">
            <a:avLst/>
          </a:prstGeom>
          <a:solidFill>
            <a:srgbClr val="0A372D"/>
          </a:solidFill>
          <a:ln w="10160">
            <a:solidFill>
              <a:srgbClr val="0A3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3736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고객 구매기준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591056"/>
            <a:ext cx="2743200" cy="594360"/>
          </a:xfrm>
          <a:prstGeom prst="roundRect">
            <a:avLst/>
          </a:prstGeom>
          <a:solidFill>
            <a:srgbClr val="0A372D"/>
          </a:solidFill>
          <a:ln w="10160">
            <a:solidFill>
              <a:srgbClr val="0A3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기존 방식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9672" y="1591056"/>
            <a:ext cx="2679192" cy="594360"/>
          </a:xfrm>
          <a:prstGeom prst="roundRect">
            <a:avLst/>
          </a:prstGeom>
          <a:solidFill>
            <a:srgbClr val="0A372D"/>
          </a:solidFill>
          <a:ln w="10160">
            <a:solidFill>
              <a:srgbClr val="0A3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1737360"/>
            <a:ext cx="2496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경쟁 대안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591056"/>
            <a:ext cx="2304288" cy="594360"/>
          </a:xfrm>
          <a:prstGeom prst="roundRect">
            <a:avLst/>
          </a:prstGeom>
          <a:solidFill>
            <a:srgbClr val="0A372D"/>
          </a:solidFill>
          <a:ln w="10160">
            <a:solidFill>
              <a:srgbClr val="0A3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1737360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[자사]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286000"/>
            <a:ext cx="2971800" cy="71323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4688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[기준 1]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2286000"/>
            <a:ext cx="2743200" cy="71323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67328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[증빙]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9672" y="2286000"/>
            <a:ext cx="2679192" cy="71323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468880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[증빙]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2286000"/>
            <a:ext cx="2304288" cy="713232"/>
          </a:xfrm>
          <a:prstGeom prst="roundRect">
            <a:avLst/>
          </a:prstGeom>
          <a:solidFill>
            <a:srgbClr val="E5F4EC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6607" y="2468880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72D"/>
                </a:solidFill>
                <a:latin typeface="Pretendard"/>
              </a:defRPr>
            </a:pPr>
            <a:r>
              <a:t>[증빙]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081528"/>
            <a:ext cx="2971800" cy="71323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26440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[기준 2]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3081528"/>
            <a:ext cx="2743200" cy="71323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7328" y="32644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[증빙]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19672" y="3081528"/>
            <a:ext cx="2679192" cy="71323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264408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[증빙]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3081528"/>
            <a:ext cx="2304288" cy="713232"/>
          </a:xfrm>
          <a:prstGeom prst="roundRect">
            <a:avLst/>
          </a:prstGeom>
          <a:solidFill>
            <a:srgbClr val="E5F4EC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36607" y="3264408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72D"/>
                </a:solidFill>
                <a:latin typeface="Pretendard"/>
              </a:defRPr>
            </a:pPr>
            <a:r>
              <a:t>[증빙]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877056"/>
            <a:ext cx="2971800" cy="71323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059936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[기준 3]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0" y="3877056"/>
            <a:ext cx="2743200" cy="71323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67328" y="405993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[증빙]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19672" y="3877056"/>
            <a:ext cx="2679192" cy="71323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405993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[증빙]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26880" y="3877056"/>
            <a:ext cx="2304288" cy="713232"/>
          </a:xfrm>
          <a:prstGeom prst="roundRect">
            <a:avLst/>
          </a:prstGeom>
          <a:solidFill>
            <a:srgbClr val="E5F4EC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36607" y="4059936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72D"/>
                </a:solidFill>
                <a:latin typeface="Pretendard"/>
              </a:defRPr>
            </a:pPr>
            <a:r>
              <a:t>[증빙]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672583"/>
            <a:ext cx="2971800" cy="71323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855464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[기준 4]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0" y="4672583"/>
            <a:ext cx="2743200" cy="71323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67328" y="485546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[증빙]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19672" y="4672583"/>
            <a:ext cx="2679192" cy="71323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4855464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[증빙]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4672583"/>
            <a:ext cx="2304288" cy="713232"/>
          </a:xfrm>
          <a:prstGeom prst="roundRect">
            <a:avLst/>
          </a:prstGeom>
          <a:solidFill>
            <a:srgbClr val="E5F4EC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36607" y="4855464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72D"/>
                </a:solidFill>
                <a:latin typeface="Pretendard"/>
              </a:defRPr>
            </a:pPr>
            <a:r>
              <a:t>[증빙]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58521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716A"/>
                </a:solidFill>
                <a:latin typeface="Pretendard"/>
              </a:defRPr>
            </a:pPr>
            <a:r>
              <a:t>[비교 자료 출처 및 확인일]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256032"/>
            <a:ext cx="73152" cy="438912"/>
          </a:xfrm>
          <a:prstGeom prst="roundRect">
            <a:avLst/>
          </a:prstGeom>
          <a:solidFill>
            <a:srgbClr val="11845D"/>
          </a:solidFill>
          <a:ln w="10160">
            <a:solidFill>
              <a:srgbClr val="11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0332C"/>
                </a:solidFill>
                <a:latin typeface="Pretendard"/>
              </a:defRPr>
            </a:pPr>
            <a:r>
              <a:t>09  | 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321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716A"/>
                </a:solidFill>
                <a:latin typeface="Pretendard"/>
              </a:defRPr>
            </a:pPr>
            <a:r>
              <a:t>핵심 실행역량 · 기술검증 파트너 · 미충원 역량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1097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845D"/>
                </a:solidFill>
                <a:latin typeface="Pretendard"/>
              </a:defRPr>
            </a:pPr>
            <a:r>
              <a:t>GREEN IR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6492240"/>
            <a:ext cx="11448288" cy="0"/>
          </a:xfrm>
          <a:prstGeom prst="line">
            <a:avLst/>
          </a:prstGeom>
          <a:ln w="17780">
            <a:solidFill>
              <a:srgbClr val="D4E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52881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716A"/>
                </a:solidFill>
                <a:latin typeface="Pretendard"/>
              </a:defRPr>
            </a:pPr>
            <a:r>
              <a:t>[회사명] · 내부검토용 · 실제 성과/계획 구분 · 출처 기재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96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716A"/>
                </a:solidFill>
                <a:latin typeface="Pretendard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3447288" cy="324612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874520"/>
            <a:ext cx="3127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대표 / 사업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3081528" cy="2368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[시장·고객 이력]</a:t>
            </a:r>
          </a:p>
        </p:txBody>
      </p:sp>
      <p:sp>
        <p:nvSpPr>
          <p:cNvPr id="13" name="Oval 12"/>
          <p:cNvSpPr/>
          <p:nvPr/>
        </p:nvSpPr>
        <p:spPr>
          <a:xfrm>
            <a:off x="1847088" y="2743200"/>
            <a:ext cx="777240" cy="777240"/>
          </a:xfrm>
          <a:prstGeom prst="ellipse">
            <a:avLst/>
          </a:prstGeom>
          <a:solidFill>
            <a:srgbClr val="E5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52544" y="1691640"/>
            <a:ext cx="3447288" cy="324612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74520"/>
            <a:ext cx="3127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기술 책임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468880"/>
            <a:ext cx="3081528" cy="2368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[핵심 기술·특허]</a:t>
            </a:r>
          </a:p>
        </p:txBody>
      </p:sp>
      <p:sp>
        <p:nvSpPr>
          <p:cNvPr id="17" name="Oval 16"/>
          <p:cNvSpPr/>
          <p:nvPr/>
        </p:nvSpPr>
        <p:spPr>
          <a:xfrm>
            <a:off x="5650992" y="2743200"/>
            <a:ext cx="777240" cy="777240"/>
          </a:xfrm>
          <a:prstGeom prst="ellipse">
            <a:avLst/>
          </a:prstGeom>
          <a:solidFill>
            <a:srgbClr val="E5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691640"/>
            <a:ext cx="3447288" cy="324612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1874520"/>
            <a:ext cx="3127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사업화 책임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468880"/>
            <a:ext cx="3081528" cy="2368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[제품·매출 이력]</a:t>
            </a:r>
          </a:p>
        </p:txBody>
      </p:sp>
      <p:sp>
        <p:nvSpPr>
          <p:cNvPr id="21" name="Oval 20"/>
          <p:cNvSpPr/>
          <p:nvPr/>
        </p:nvSpPr>
        <p:spPr>
          <a:xfrm>
            <a:off x="9454896" y="2743200"/>
            <a:ext cx="777240" cy="777240"/>
          </a:xfrm>
          <a:prstGeom prst="ellipse">
            <a:avLst/>
          </a:prstGeom>
          <a:solidFill>
            <a:srgbClr val="E5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257800"/>
            <a:ext cx="11155680" cy="685800"/>
          </a:xfrm>
          <a:prstGeom prst="roundRect">
            <a:avLst/>
          </a:prstGeom>
          <a:solidFill>
            <a:srgbClr val="0A372D"/>
          </a:solidFill>
          <a:ln w="10160">
            <a:solidFill>
              <a:srgbClr val="0A3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431536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[검증 파트너 및 협력 관계: 계약·협의 상태 구분]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256032"/>
            <a:ext cx="73152" cy="438912"/>
          </a:xfrm>
          <a:prstGeom prst="roundRect">
            <a:avLst/>
          </a:prstGeom>
          <a:solidFill>
            <a:srgbClr val="11845D"/>
          </a:solidFill>
          <a:ln w="10160">
            <a:solidFill>
              <a:srgbClr val="11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0332C"/>
                </a:solidFill>
                <a:latin typeface="Pretendard"/>
              </a:defRPr>
            </a:pPr>
            <a:r>
              <a:t>10  |  FINANCIAL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321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716A"/>
                </a:solidFill>
                <a:latin typeface="Pretendard"/>
              </a:defRPr>
            </a:pPr>
            <a:r>
              <a:t>5개년 매출·영업이익 · 가정과 산식 · 현금흐름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1097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845D"/>
                </a:solidFill>
                <a:latin typeface="Pretendard"/>
              </a:defRPr>
            </a:pPr>
            <a:r>
              <a:t>GREEN IR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6492240"/>
            <a:ext cx="11448288" cy="0"/>
          </a:xfrm>
          <a:prstGeom prst="line">
            <a:avLst/>
          </a:prstGeom>
          <a:ln w="17780">
            <a:solidFill>
              <a:srgbClr val="D4E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52881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716A"/>
                </a:solidFill>
                <a:latin typeface="Pretendard"/>
              </a:defRPr>
            </a:pPr>
            <a:r>
              <a:t>[회사명] · 내부검토용 · 실제 성과/계획 구분 · 출처 기재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96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716A"/>
                </a:solidFill>
                <a:latin typeface="Pretendard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81328"/>
            <a:ext cx="7406640" cy="4535424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664208"/>
            <a:ext cx="7086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5개년 재무 전망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58568"/>
            <a:ext cx="70408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[금액 단위]  ·  막대=매출  ·  선=영업이익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590288"/>
            <a:ext cx="576072" cy="457200"/>
          </a:xfrm>
          <a:prstGeom prst="roundRect">
            <a:avLst/>
          </a:prstGeom>
          <a:solidFill>
            <a:srgbClr val="11845D"/>
          </a:solidFill>
          <a:ln w="10160">
            <a:solidFill>
              <a:srgbClr val="11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5212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716A"/>
                </a:solidFill>
                <a:latin typeface="Pretendard"/>
              </a:defRPr>
            </a:pPr>
            <a:r>
              <a:t>[Y1]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41448" y="4197096"/>
            <a:ext cx="576072" cy="850392"/>
          </a:xfrm>
          <a:prstGeom prst="roundRect">
            <a:avLst/>
          </a:prstGeom>
          <a:solidFill>
            <a:srgbClr val="11845D"/>
          </a:solidFill>
          <a:ln w="10160">
            <a:solidFill>
              <a:srgbClr val="11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68296" y="5212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716A"/>
                </a:solidFill>
                <a:latin typeface="Pretendard"/>
              </a:defRPr>
            </a:pPr>
            <a:r>
              <a:t>[Y2]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9896" y="3803904"/>
            <a:ext cx="576072" cy="1243584"/>
          </a:xfrm>
          <a:prstGeom prst="roundRect">
            <a:avLst/>
          </a:prstGeom>
          <a:solidFill>
            <a:srgbClr val="11845D"/>
          </a:solidFill>
          <a:ln w="10160">
            <a:solidFill>
              <a:srgbClr val="11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6744" y="5212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716A"/>
                </a:solidFill>
                <a:latin typeface="Pretendard"/>
              </a:defRPr>
            </a:pPr>
            <a:r>
              <a:t>[Y3]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38344" y="3410711"/>
            <a:ext cx="576072" cy="1636776"/>
          </a:xfrm>
          <a:prstGeom prst="roundRect">
            <a:avLst/>
          </a:prstGeom>
          <a:solidFill>
            <a:srgbClr val="11845D"/>
          </a:solidFill>
          <a:ln w="10160">
            <a:solidFill>
              <a:srgbClr val="11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5212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716A"/>
                </a:solidFill>
                <a:latin typeface="Pretendard"/>
              </a:defRPr>
            </a:pPr>
            <a:r>
              <a:t>[Y4]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3017520"/>
            <a:ext cx="576072" cy="2029967"/>
          </a:xfrm>
          <a:prstGeom prst="roundRect">
            <a:avLst/>
          </a:prstGeom>
          <a:solidFill>
            <a:srgbClr val="11845D"/>
          </a:solidFill>
          <a:ln w="10160">
            <a:solidFill>
              <a:srgbClr val="11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52120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716A"/>
                </a:solidFill>
                <a:latin typeface="Pretendard"/>
              </a:defRPr>
            </a:pPr>
            <a:r>
              <a:t>[Y5]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371600" y="4645152"/>
            <a:ext cx="1325880" cy="219456"/>
          </a:xfrm>
          <a:prstGeom prst="line">
            <a:avLst/>
          </a:prstGeom>
          <a:ln w="17780">
            <a:solidFill>
              <a:srgbClr val="118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697480" y="4389120"/>
            <a:ext cx="1298448" cy="256032"/>
          </a:xfrm>
          <a:prstGeom prst="line">
            <a:avLst/>
          </a:prstGeom>
          <a:ln w="17780">
            <a:solidFill>
              <a:srgbClr val="118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995928" y="4069080"/>
            <a:ext cx="1298448" cy="320040"/>
          </a:xfrm>
          <a:prstGeom prst="line">
            <a:avLst/>
          </a:prstGeom>
          <a:ln w="17780">
            <a:solidFill>
              <a:srgbClr val="118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294376" y="3794760"/>
            <a:ext cx="1289304" cy="274320"/>
          </a:xfrm>
          <a:prstGeom prst="line">
            <a:avLst/>
          </a:prstGeom>
          <a:ln w="17780">
            <a:solidFill>
              <a:srgbClr val="1184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174736" y="1481328"/>
            <a:ext cx="3474720" cy="205740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1" y="1664208"/>
            <a:ext cx="31546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영업이익 산식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5" y="2258568"/>
            <a:ext cx="3108960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매출 − 매출원가 − 판관비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74736" y="3703320"/>
            <a:ext cx="3474720" cy="231343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3886200"/>
            <a:ext cx="31546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핵심 가정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4480559"/>
            <a:ext cx="3108960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[고객수 × 계약단가]</a:t>
            </a:r>
          </a:p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[인건비·클라우드비]</a:t>
            </a:r>
          </a:p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[고정비·변동비]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256032"/>
            <a:ext cx="73152" cy="438912"/>
          </a:xfrm>
          <a:prstGeom prst="roundRect">
            <a:avLst/>
          </a:prstGeom>
          <a:solidFill>
            <a:srgbClr val="11845D"/>
          </a:solidFill>
          <a:ln w="10160">
            <a:solidFill>
              <a:srgbClr val="11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0332C"/>
                </a:solidFill>
                <a:latin typeface="Pretendard"/>
              </a:defRPr>
            </a:pPr>
            <a:r>
              <a:t>11  |  SCALEUP / EXIT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321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716A"/>
                </a:solidFill>
                <a:latin typeface="Pretendard"/>
              </a:defRPr>
            </a:pPr>
            <a:r>
              <a:t>마일스톤 · 자금조달 · 투자 회수 가능성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1097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845D"/>
                </a:solidFill>
                <a:latin typeface="Pretendard"/>
              </a:defRPr>
            </a:pPr>
            <a:r>
              <a:t>GREEN IR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6492240"/>
            <a:ext cx="11448288" cy="0"/>
          </a:xfrm>
          <a:prstGeom prst="line">
            <a:avLst/>
          </a:prstGeom>
          <a:ln w="17780">
            <a:solidFill>
              <a:srgbClr val="D4E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52881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716A"/>
                </a:solidFill>
                <a:latin typeface="Pretendard"/>
              </a:defRPr>
            </a:pPr>
            <a:r>
              <a:t>[회사명] · 내부검토용 · 실제 성과/계획 구분 · 출처 기재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96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716A"/>
                </a:solidFill>
                <a:latin typeface="Pretendard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2542032" cy="274320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011680"/>
            <a:ext cx="22219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기술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2176272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[성능·인증]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29443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1845D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828800"/>
            <a:ext cx="2542032" cy="274320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6" y="2011680"/>
            <a:ext cx="22219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상업화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06040"/>
            <a:ext cx="2176272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[유료 고객]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9443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1845D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28800"/>
            <a:ext cx="2542032" cy="274320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011680"/>
            <a:ext cx="22219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확장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606040"/>
            <a:ext cx="2176272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[시장·파트너]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59" y="29443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1845D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828800"/>
            <a:ext cx="2542032" cy="274320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7736" y="2011680"/>
            <a:ext cx="22219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회수 경로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606040"/>
            <a:ext cx="2176272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[M&amp;A / IPO 가설]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10912"/>
            <a:ext cx="11064240" cy="731520"/>
          </a:xfrm>
          <a:prstGeom prst="roundRect">
            <a:avLst/>
          </a:prstGeom>
          <a:solidFill>
            <a:srgbClr val="0A372D"/>
          </a:solidFill>
          <a:ln w="10160">
            <a:solidFill>
              <a:srgbClr val="0A3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20293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[각 단계의 정량 KPI·시점·필요 자금]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" y="256032"/>
            <a:ext cx="73152" cy="438912"/>
          </a:xfrm>
          <a:prstGeom prst="roundRect">
            <a:avLst/>
          </a:prstGeom>
          <a:solidFill>
            <a:srgbClr val="11845D"/>
          </a:solidFill>
          <a:ln w="10160">
            <a:solidFill>
              <a:srgbClr val="118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0332C"/>
                </a:solidFill>
                <a:latin typeface="Pretendard"/>
              </a:defRPr>
            </a:pPr>
            <a:r>
              <a:t>12  |  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321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716A"/>
                </a:solidFill>
                <a:latin typeface="Pretendard"/>
              </a:defRPr>
            </a:pPr>
            <a:r>
              <a:t>투자 규모 · 배분 · 집행 시점 · 마일스톤 · 런웨이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6768" y="1097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1845D"/>
                </a:solidFill>
                <a:latin typeface="Pretendard"/>
              </a:defRPr>
            </a:pPr>
            <a:r>
              <a:t>GREEN IR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6492240"/>
            <a:ext cx="11448288" cy="0"/>
          </a:xfrm>
          <a:prstGeom prst="line">
            <a:avLst/>
          </a:prstGeom>
          <a:ln w="17780">
            <a:solidFill>
              <a:srgbClr val="D4E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52881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716A"/>
                </a:solidFill>
                <a:latin typeface="Pretendard"/>
              </a:defRPr>
            </a:pPr>
            <a:r>
              <a:t>[회사명] · 내부검토용 · 실제 성과/계획 구분 · 출처 기재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96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C716A"/>
                </a:solidFill>
                <a:latin typeface="Pretendard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2926080" cy="438912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691639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투자유치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2560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[금액]</a:t>
            </a:r>
          </a:p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</a:p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[런웨이 개월]</a:t>
            </a:r>
          </a:p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</a:p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[조달 구조]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508760"/>
            <a:ext cx="3703320" cy="201168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77056" y="1691639"/>
            <a:ext cx="33832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R&amp;D·제품화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286000"/>
            <a:ext cx="333756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[금액 / %]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1" y="1508760"/>
            <a:ext cx="3703320" cy="201168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6407" y="1691639"/>
            <a:ext cx="33832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실증·인증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1" y="2286000"/>
            <a:ext cx="333756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[금액 / %]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749039"/>
            <a:ext cx="3703320" cy="201168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77056" y="3931920"/>
            <a:ext cx="33832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영업·시장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4526279"/>
            <a:ext cx="333756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[금액 / %]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62671" y="3749039"/>
            <a:ext cx="3703320" cy="2011680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D4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6407" y="3931920"/>
            <a:ext cx="33832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372D"/>
                </a:solidFill>
                <a:latin typeface="Pretendard"/>
              </a:defRPr>
            </a:pPr>
            <a:r>
              <a:t>운영·인력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1" y="4526279"/>
            <a:ext cx="333756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716A"/>
                </a:solidFill>
                <a:latin typeface="Pretendard"/>
              </a:defRPr>
            </a:pPr>
            <a:r>
              <a:t>[금액 / %]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6053328"/>
            <a:ext cx="7589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716A"/>
                </a:solidFill>
                <a:latin typeface="Pretendard"/>
              </a:defRPr>
            </a:pPr>
            <a:r>
              <a:t>[집행 항목 합계 = 투자유치 금액]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