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ca50ff6ae44876" /><Relationship Type="http://schemas.openxmlformats.org/officeDocument/2006/relationships/extended-properties" Target="/docProps/app.xml" Id="R832a3b9b5f534564" /><Relationship Type="http://schemas.openxmlformats.org/officeDocument/2006/relationships/officeDocument" Target="/ppt/presentation.xml" Id="Rd823e11bc58f47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6c1cb840d3429c"/>
  </p:sldMasterIdLst>
  <p:notesMasterIdLst>
    <p:notesMasterId xmlns:r="http://schemas.openxmlformats.org/officeDocument/2006/relationships" r:id="R55a0c8cc63ba4110"/>
  </p:notesMasterIdLst>
  <p:sldIdLst>
    <p:sldId xmlns:r="http://schemas.openxmlformats.org/officeDocument/2006/relationships" id="256" r:id="R5de159bd285045f4"/>
    <p:sldId xmlns:r="http://schemas.openxmlformats.org/officeDocument/2006/relationships" id="257" r:id="R90d0c012a9c14ca9"/>
    <p:sldId xmlns:r="http://schemas.openxmlformats.org/officeDocument/2006/relationships" id="258" r:id="Rb144a0cfdd8049a8"/>
    <p:sldId xmlns:r="http://schemas.openxmlformats.org/officeDocument/2006/relationships" id="259" r:id="R8fdf9b149f6f4263"/>
    <p:sldId xmlns:r="http://schemas.openxmlformats.org/officeDocument/2006/relationships" id="260" r:id="Rd999d6a363ae4d52"/>
    <p:sldId xmlns:r="http://schemas.openxmlformats.org/officeDocument/2006/relationships" id="261" r:id="R7cb2cf267b4044ff"/>
    <p:sldId xmlns:r="http://schemas.openxmlformats.org/officeDocument/2006/relationships" id="262" r:id="Rd88142f1b29b49fa"/>
    <p:sldId xmlns:r="http://schemas.openxmlformats.org/officeDocument/2006/relationships" id="263" r:id="Ra5205f9f15524058"/>
    <p:sldId xmlns:r="http://schemas.openxmlformats.org/officeDocument/2006/relationships" id="264" r:id="Re661b53e9cf44023"/>
    <p:sldId xmlns:r="http://schemas.openxmlformats.org/officeDocument/2006/relationships" id="265" r:id="Rad05c51ab20a433a"/>
    <p:sldId xmlns:r="http://schemas.openxmlformats.org/officeDocument/2006/relationships" id="266" r:id="R06ed2924e4ca4c98"/>
    <p:sldId xmlns:r="http://schemas.openxmlformats.org/officeDocument/2006/relationships" id="267" r:id="R490a67b45a5f471f"/>
    <p:sldId xmlns:r="http://schemas.openxmlformats.org/officeDocument/2006/relationships" id="268" r:id="R93d90232ec2e4e2e"/>
    <p:sldId xmlns:r="http://schemas.openxmlformats.org/officeDocument/2006/relationships" id="269" r:id="R3e62794f2c104f7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08417794714a57" /><Relationship Type="http://schemas.openxmlformats.org/officeDocument/2006/relationships/slideMaster" Target="/ppt/slideMasters/slideMaster1.xml" Id="Rb26c1cb840d3429c" /><Relationship Type="http://schemas.openxmlformats.org/officeDocument/2006/relationships/notesMaster" Target="/ppt/notesMasters/notesMaster1.xml" Id="R55a0c8cc63ba4110" /><Relationship Type="http://schemas.openxmlformats.org/officeDocument/2006/relationships/presProps" Target="/ppt/presProps.xml" Id="R27f12d22f7744317" /><Relationship Type="http://schemas.openxmlformats.org/officeDocument/2006/relationships/tableStyles" Target="/ppt/tableStyles.xml" Id="R56607c895b1f497d" /><Relationship Type="http://schemas.openxmlformats.org/officeDocument/2006/relationships/slide" Target="/ppt/slides/slide1.xml" Id="R5de159bd285045f4" /><Relationship Type="http://schemas.openxmlformats.org/officeDocument/2006/relationships/slide" Target="/ppt/slides/slide2.xml" Id="R90d0c012a9c14ca9" /><Relationship Type="http://schemas.openxmlformats.org/officeDocument/2006/relationships/slide" Target="/ppt/slides/slide3.xml" Id="Rb144a0cfdd8049a8" /><Relationship Type="http://schemas.openxmlformats.org/officeDocument/2006/relationships/slide" Target="/ppt/slides/slide4.xml" Id="R8fdf9b149f6f4263" /><Relationship Type="http://schemas.openxmlformats.org/officeDocument/2006/relationships/slide" Target="/ppt/slides/slide5.xml" Id="Rd999d6a363ae4d52" /><Relationship Type="http://schemas.openxmlformats.org/officeDocument/2006/relationships/slide" Target="/ppt/slides/slide6.xml" Id="R7cb2cf267b4044ff" /><Relationship Type="http://schemas.openxmlformats.org/officeDocument/2006/relationships/slide" Target="/ppt/slides/slide7.xml" Id="Rd88142f1b29b49fa" /><Relationship Type="http://schemas.openxmlformats.org/officeDocument/2006/relationships/slide" Target="/ppt/slides/slide8.xml" Id="Ra5205f9f15524058" /><Relationship Type="http://schemas.openxmlformats.org/officeDocument/2006/relationships/slide" Target="/ppt/slides/slide9.xml" Id="Re661b53e9cf44023" /><Relationship Type="http://schemas.openxmlformats.org/officeDocument/2006/relationships/slide" Target="/ppt/slides/slide10.xml" Id="Rad05c51ab20a433a" /><Relationship Type="http://schemas.openxmlformats.org/officeDocument/2006/relationships/slide" Target="/ppt/slides/slide11.xml" Id="R06ed2924e4ca4c98" /><Relationship Type="http://schemas.openxmlformats.org/officeDocument/2006/relationships/slide" Target="/ppt/slides/slide12.xml" Id="R490a67b45a5f471f" /><Relationship Type="http://schemas.openxmlformats.org/officeDocument/2006/relationships/slide" Target="/ppt/slides/slide13.xml" Id="R93d90232ec2e4e2e" /><Relationship Type="http://schemas.openxmlformats.org/officeDocument/2006/relationships/slide" Target="/ppt/slides/slide14.xml" Id="R3e62794f2c104f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0c708a05f547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7c5cd7c78b4114" /><Relationship Type="http://schemas.openxmlformats.org/officeDocument/2006/relationships/notesMaster" Target="/ppt/notesMasters/notesMaster1.xml" Id="R96e31a59b31245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e0f3411b7f48e5" /><Relationship Type="http://schemas.openxmlformats.org/officeDocument/2006/relationships/notesMaster" Target="/ppt/notesMasters/notesMaster1.xml" Id="Re7026520196047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0fb8e5e06c4e7e" /><Relationship Type="http://schemas.openxmlformats.org/officeDocument/2006/relationships/notesMaster" Target="/ppt/notesMasters/notesMaster1.xml" Id="Ra4c1b45099aa4d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50e79e85ca4022" /><Relationship Type="http://schemas.openxmlformats.org/officeDocument/2006/relationships/notesMaster" Target="/ppt/notesMasters/notesMaster1.xml" Id="Rb8d8b4bf9bed48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ee5a939691475f" /><Relationship Type="http://schemas.openxmlformats.org/officeDocument/2006/relationships/notesMaster" Target="/ppt/notesMasters/notesMaster1.xml" Id="R2229594a239141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6a86f4a3134120" /><Relationship Type="http://schemas.openxmlformats.org/officeDocument/2006/relationships/notesMaster" Target="/ppt/notesMasters/notesMaster1.xml" Id="Radf4ca49998149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0d3d27e03e4941" /><Relationship Type="http://schemas.openxmlformats.org/officeDocument/2006/relationships/notesMaster" Target="/ppt/notesMasters/notesMaster1.xml" Id="Rff733957515741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f60e05a3be402f" /><Relationship Type="http://schemas.openxmlformats.org/officeDocument/2006/relationships/notesMaster" Target="/ppt/notesMasters/notesMaster1.xml" Id="Rd44d9409ecc74e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db32ed752d4d09" /><Relationship Type="http://schemas.openxmlformats.org/officeDocument/2006/relationships/notesMaster" Target="/ppt/notesMasters/notesMaster1.xml" Id="Rff926cfd8c2e45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dbdf9f204b4347" /><Relationship Type="http://schemas.openxmlformats.org/officeDocument/2006/relationships/notesMaster" Target="/ppt/notesMasters/notesMaster1.xml" Id="Rf866544471e84b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533dbb55c64b5c" /><Relationship Type="http://schemas.openxmlformats.org/officeDocument/2006/relationships/notesMaster" Target="/ppt/notesMasters/notesMaster1.xml" Id="Rfe127be85ce144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1a67607f5e4edd" /><Relationship Type="http://schemas.openxmlformats.org/officeDocument/2006/relationships/notesMaster" Target="/ppt/notesMasters/notesMaster1.xml" Id="R99701e38f2bd4e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344cd2c5c24703" /><Relationship Type="http://schemas.openxmlformats.org/officeDocument/2006/relationships/notesMaster" Target="/ppt/notesMasters/notesMaster1.xml" Id="R2956563f570841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1a5e2c70c54e6d" /><Relationship Type="http://schemas.openxmlformats.org/officeDocument/2006/relationships/notesMaster" Target="/ppt/notesMasters/notesMaster1.xml" Id="R7211ad8b4b9640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범용 SEQUOIA IR 템플릿. 1. COMPANY PURPOSE. 누구의 어떤 문제를 해결하며 어떤 가치를 제공하는가. 회사별 정보는 새로 제공된 자료에서만 입력한다. 대표색은 해당 기업의 기존 IR 반복 요소를 확인해 적용한다. 이 템플릿의 네이비·블루는 교체 가능한 기본 토큰이며 모든 기업의 브랜드 색상이 아니다. 이미지·로고 슬롯은 새 기업의 원본 자료로 채운다. 예제 기업의 사실이나 수치를 가져오지 않는다. 대괄호와 차트 0은 데이터가 아니다. 본편 순서는 제공 강의안13페이지 SEQUOIA CAPITAL 10개 항목 기준. 부록은 해당 근거가 있을 때만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범용 SEQUOIA IR 템플릿. 2. PROBLEM. 고객 과업·비용·시간·위험을 구분하고 근거를 제시. 회사별 정보는 새로 제공된 자료에서만 입력한다. 대표색은 해당 기업의 기존 IR 반복 요소를 확인해 적용한다. 이 템플릿의 네이비·블루는 교체 가능한 기본 토큰이며 모든 기업의 브랜드 색상이 아니다. 이미지·로고 슬롯은 새 기업의 원본 자료로 채운다. 예제 기업의 사실이나 수치를 가져오지 않는다. 대괄호와 차트 0은 데이터가 아니다. 본편 순서는 제공 강의안13페이지 SEQUOIA CAPITAL 10개 항목 기준. 부록은 해당 근거가 있을 때만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범용 SEQUOIA IR 템플릿. 3. SOLUTION. 검증된 기능과 개발 목표를 나누어 설명. 회사별 정보는 새로 제공된 자료에서만 입력한다. 대표색은 해당 기업의 기존 IR 반복 요소를 확인해 적용한다. 이 템플릿의 네이비·블루는 교체 가능한 기본 토큰이며 모든 기업의 브랜드 색상이 아니다. 이미지·로고 슬롯은 새 기업의 원본 자료로 채운다. 예제 기업의 사실이나 수치를 가져오지 않는다. 대괄호와 차트 0은 데이터가 아니다. 본편 순서는 제공 강의안13페이지 SEQUOIA CAPITAL 10개 항목 기준. 부록은 해당 근거가 있을 때만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범용 SEQUOIA IR 템플릿. 4. WHY NOW?. 시장 변화·고객 수요·기술 성숙도를 연결. 회사별 정보는 새로 제공된 자료에서만 입력한다. 대표색은 해당 기업의 기존 IR 반복 요소를 확인해 적용한다. 이 템플릿의 네이비·블루는 교체 가능한 기본 토큰이며 모든 기업의 브랜드 색상이 아니다. 이미지·로고 슬롯은 새 기업의 원본 자료로 채운다. 예제 기업의 사실이나 수치를 가져오지 않는다. 대괄호와 차트 0은 데이터가 아니다. 본편 순서는 제공 강의안13페이지 SEQUOIA CAPITAL 10개 항목 기준. 부록은 해당 근거가 있을 때만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범용 SEQUOIA IR 템플릿. 5. MARKET POTENTIAL. 지역·기간·고객·제품·단가 정의를 일치. 회사별 정보는 새로 제공된 자료에서만 입력한다. 대표색은 해당 기업의 기존 IR 반복 요소를 확인해 적용한다. 이 템플릿의 네이비·블루는 교체 가능한 기본 토큰이며 모든 기업의 브랜드 색상이 아니다. 이미지·로고 슬롯은 새 기업의 원본 자료로 채운다. 예제 기업의 사실이나 수치를 가져오지 않는다. 대괄호와 차트 0은 데이터가 아니다. 본편 순서는 제공 강의안13페이지 SEQUOIA CAPITAL 10개 항목 기준. 부록은 해당 근거가 있을 때만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범용 SEQUOIA IR 템플릿. 6. COMPETITION / ALTERNATIVES. 미확인 기능은 미확인으로 표시. 회사별 정보는 새로 제공된 자료에서만 입력한다. 대표색은 해당 기업의 기존 IR 반복 요소를 확인해 적용한다. 이 템플릿의 네이비·블루는 교체 가능한 기본 토큰이며 모든 기업의 브랜드 색상이 아니다. 이미지·로고 슬롯은 새 기업의 원본 자료로 채운다. 예제 기업의 사실이나 수치를 가져오지 않는다. 대괄호와 차트 0은 데이터가 아니다. 본편 순서는 제공 강의안13페이지 SEQUOIA CAPITAL 10개 항목 기준. 부록은 해당 근거가 있을 때만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범용 SEQUOIA IR 템플릿. 7. BUSINESS MODEL. 가치 전달과 대금 흐름을 분리하고 반복 거래 조건을 명시. 회사별 정보는 새로 제공된 자료에서만 입력한다. 대표색은 해당 기업의 기존 IR 반복 요소를 확인해 적용한다. 이 템플릿의 네이비·블루는 교체 가능한 기본 토큰이며 모든 기업의 브랜드 색상이 아니다. 이미지·로고 슬롯은 새 기업의 원본 자료로 채운다. 예제 기업의 사실이나 수치를 가져오지 않는다. 대괄호와 차트 0은 데이터가 아니다. 본편 순서는 제공 강의안13페이지 SEQUOIA CAPITAL 10개 항목 기준. 부록은 해당 근거가 있을 때만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범용 SEQUOIA IR 템플릿. 8. TEAM. 역할·경력·협력 관계의 상태를 구분. 회사별 정보는 새로 제공된 자료에서만 입력한다. 대표색은 해당 기업의 기존 IR 반복 요소를 확인해 적용한다. 이 템플릿의 네이비·블루는 교체 가능한 기본 토큰이며 모든 기업의 브랜드 색상이 아니다. 이미지·로고 슬롯은 새 기업의 원본 자료로 채운다. 예제 기업의 사실이나 수치를 가져오지 않는다. 대괄호와 차트 0은 데이터가 아니다. 본편 순서는 제공 강의안13페이지 SEQUOIA CAPITAL 10개 항목 기준. 부록은 해당 근거가 있을 때만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범용 SEQUOIA IR 템플릿. 9. FINANCIALS. 실적·목표·추정·가정 및 금액 단위를 구분. 회사별 정보는 새로 제공된 자료에서만 입력한다. 대표색은 해당 기업의 기존 IR 반복 요소를 확인해 적용한다. 이 템플릿의 네이비·블루는 교체 가능한 기본 토큰이며 모든 기업의 브랜드 색상이 아니다. 이미지·로고 슬롯은 새 기업의 원본 자료로 채운다. 예제 기업의 사실이나 수치를 가져오지 않는다. 대괄호와 차트 0은 데이터가 아니다. 본편 순서는 제공 강의안13페이지 SEQUOIA CAPITAL 10개 항목 기준. 부록은 해당 근거가 있을 때만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범용 SEQUOIA IR 템플릿. 10. VISION. 각 단계의 시기·KPI·자금·관문을 연결. 회사별 정보는 새로 제공된 자료에서만 입력한다. 대표색은 해당 기업의 기존 IR 반복 요소를 확인해 적용한다. 이 템플릿의 네이비·블루는 교체 가능한 기본 토큰이며 모든 기업의 브랜드 색상이 아니다. 이미지·로고 슬롯은 새 기업의 원본 자료로 채운다. 예제 기업의 사실이나 수치를 가져오지 않는다. 대괄호와 차트 0은 데이터가 아니다. 본편 순서는 제공 강의안13페이지 SEQUOIA CAPITAL 10개 항목 기준. 부록은 해당 근거가 있을 때만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범용 SEQUOIA IR 템플릿. 11. APPENDIX A1. 표본·기간·측정 방법·참조기준을 함께 기록. 회사별 정보는 새로 제공된 자료에서만 입력한다. 대표색은 해당 기업의 기존 IR 반복 요소를 확인해 적용한다. 이 템플릿의 네이비·블루는 교체 가능한 기본 토큰이며 모든 기업의 브랜드 색상이 아니다. 이미지·로고 슬롯은 새 기업의 원본 자료로 채운다. 예제 기업의 사실이나 수치를 가져오지 않는다. 대괄호와 차트 0은 데이터가 아니다. 본편 순서는 제공 강의안13페이지 SEQUOIA CAPITAL 10개 항목 기준. 부록은 해당 근거가 있을 때만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범용 SEQUOIA IR 템플릿. 12. APPENDIX A2. 개발·검증·허가·상용화를 제품별로 구분. 회사별 정보는 새로 제공된 자료에서만 입력한다. 대표색은 해당 기업의 기존 IR 반복 요소를 확인해 적용한다. 이 템플릿의 네이비·블루는 교체 가능한 기본 토큰이며 모든 기업의 브랜드 색상이 아니다. 이미지·로고 슬롯은 새 기업의 원본 자료로 채운다. 예제 기업의 사실이나 수치를 가져오지 않는다. 대괄호와 차트 0은 데이터가 아니다. 본편 순서는 제공 강의안13페이지 SEQUOIA CAPITAL 10개 항목 기준. 부록은 해당 근거가 있을 때만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범용 SEQUOIA IR 템플릿. 13. APPENDIX A3. 현재 라운드 조건과 과거 과제계획의 목표를 구분. 회사별 정보는 새로 제공된 자료에서만 입력한다. 대표색은 해당 기업의 기존 IR 반복 요소를 확인해 적용한다. 이 템플릿의 네이비·블루는 교체 가능한 기본 토큰이며 모든 기업의 브랜드 색상이 아니다. 이미지·로고 슬롯은 새 기업의 원본 자료로 채운다. 예제 기업의 사실이나 수치를 가져오지 않는다. 대괄호와 차트 0은 데이터가 아니다. 본편 순서는 제공 강의안13페이지 SEQUOIA CAPITAL 10개 항목 기준. 부록은 해당 근거가 있을 때만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범용 SEQUOIA IR 템플릿. 14. APPENDIX A4. 시점·대상범위·산식 차이를 확인한 뒤 수치 확정. 회사별 정보는 새로 제공된 자료에서만 입력한다. 대표색은 해당 기업의 기존 IR 반복 요소를 확인해 적용한다. 이 템플릿의 네이비·블루는 교체 가능한 기본 토큰이며 모든 기업의 브랜드 색상이 아니다. 이미지·로고 슬롯은 새 기업의 원본 자료로 채운다. 예제 기업의 사실이나 수치를 가져오지 않는다. 대괄호와 차트 0은 데이터가 아니다. 본편 순서는 제공 강의안13페이지 SEQUOIA CAPITAL 10개 항목 기준. 부록은 해당 근거가 있을 때만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824c83d03f41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27dce399b4e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59a3c162040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4e7a5169c4c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0daf12218e4c3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98d10ba6f47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D95FD1-CF3E-4A1C-89D9-CBDFC7DE90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400987-E0C4-4E6E-BD25-9B3A598BDC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7E2A3A-8BA5-4EA0-B17B-50F3FCED4A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4A3AB5-75BA-4EEA-BF89-856D82FF89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D0DAD8D-449F-460E-9047-5C09DA1024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C363CF-35E6-41FD-B174-BAFAF58994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F345FC-4752-45E1-8CB8-6F4AF83A03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861ED47-E879-439A-B7F7-1F07E3438A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0BB62D-C9CC-463B-953E-F644F16CCC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51615C-1D4F-4D9A-B5BA-0CAB852E29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514e4fa5e94c2f" /><Relationship Type="http://schemas.openxmlformats.org/officeDocument/2006/relationships/slideLayout" Target="/ppt/slideLayouts/slideLayout1.xml" Id="R8eac6892821744a8" /><Relationship Type="http://schemas.openxmlformats.org/officeDocument/2006/relationships/slideLayout" Target="/ppt/slideLayouts/slideLayout2.xml" Id="Rca3f6c2d5e4845be" /><Relationship Type="http://schemas.openxmlformats.org/officeDocument/2006/relationships/slideLayout" Target="/ppt/slideLayouts/slideLayout3.xml" Id="Rdbf125c5ea254610" /><Relationship Type="http://schemas.openxmlformats.org/officeDocument/2006/relationships/slideLayout" Target="/ppt/slideLayouts/slideLayout4.xml" Id="R06c4312725354cd0" /><Relationship Type="http://schemas.openxmlformats.org/officeDocument/2006/relationships/slideLayout" Target="/ppt/slideLayouts/slideLayout5.xml" Id="R542fca8628714f5b" /><Relationship Type="http://schemas.openxmlformats.org/officeDocument/2006/relationships/slideLayout" Target="/ppt/slideLayouts/slideLayout6.xml" Id="R89718e44ef3d48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ac6892821744a8"/>
    <p:sldLayoutId xmlns:r="http://schemas.openxmlformats.org/officeDocument/2006/relationships" id="2147483650" r:id="Rca3f6c2d5e4845be"/>
    <p:sldLayoutId xmlns:r="http://schemas.openxmlformats.org/officeDocument/2006/relationships" id="2147483651" r:id="Rdbf125c5ea254610"/>
    <p:sldLayoutId xmlns:r="http://schemas.openxmlformats.org/officeDocument/2006/relationships" id="2147483652" r:id="R06c4312725354cd0"/>
    <p:sldLayoutId xmlns:r="http://schemas.openxmlformats.org/officeDocument/2006/relationships" id="2147483653" r:id="R542fca8628714f5b"/>
    <p:sldLayoutId xmlns:r="http://schemas.openxmlformats.org/officeDocument/2006/relationships" id="2147483654" r:id="R89718e44ef3d48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e761ec6a234d1c" /><Relationship Type="http://schemas.openxmlformats.org/officeDocument/2006/relationships/notesSlide" Target="/ppt/notesSlides/notesSlide1.xml" Id="Rc906e2582a0c4c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bdb7ac8e9b4c05" /><Relationship Type="http://schemas.openxmlformats.org/officeDocument/2006/relationships/notesSlide" Target="/ppt/notesSlides/notesSlide2.xml" Id="Rfde9207a7dc14d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87a2092fc34c18" /><Relationship Type="http://schemas.openxmlformats.org/officeDocument/2006/relationships/notesSlide" Target="/ppt/notesSlides/notesSlide3.xml" Id="Rc6d2a7df03324c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54a982ff044d52" /><Relationship Type="http://schemas.openxmlformats.org/officeDocument/2006/relationships/notesSlide" Target="/ppt/notesSlides/notesSlide4.xml" Id="Rcb38fdd8747c40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53051f587848a0" /><Relationship Type="http://schemas.openxmlformats.org/officeDocument/2006/relationships/chart" Target="/ppt/slides/charts/chart1.xml" Id="R5d6974ae5fb64f87" /><Relationship Type="http://schemas.openxmlformats.org/officeDocument/2006/relationships/notesSlide" Target="/ppt/notesSlides/notesSlide5.xml" Id="Rad7f9f2fa82c47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c08a7dd96446be" /><Relationship Type="http://schemas.openxmlformats.org/officeDocument/2006/relationships/notesSlide" Target="/ppt/notesSlides/notesSlide6.xml" Id="R9ca8c326f61645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f61985bb28423d" /><Relationship Type="http://schemas.openxmlformats.org/officeDocument/2006/relationships/notesSlide" Target="/ppt/notesSlides/notesSlide7.xml" Id="R998018992b7744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a28ab927c441d8" /><Relationship Type="http://schemas.openxmlformats.org/officeDocument/2006/relationships/notesSlide" Target="/ppt/notesSlides/notesSlide8.xml" Id="R437cf7c14f5743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cb0211fd0f4813" /><Relationship Type="http://schemas.openxmlformats.org/officeDocument/2006/relationships/chart" Target="/ppt/slides/charts/chart2.xml" Id="R03137b3563664a07" /><Relationship Type="http://schemas.openxmlformats.org/officeDocument/2006/relationships/notesSlide" Target="/ppt/notesSlides/notesSlide9.xml" Id="Re5db3ab8e2cd4d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bfbb7335124372" /><Relationship Type="http://schemas.openxmlformats.org/officeDocument/2006/relationships/notesSlide" Target="/ppt/notesSlides/notesSlide10.xml" Id="Rb06b49ca14044a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2ac27ce5d74796" /><Relationship Type="http://schemas.openxmlformats.org/officeDocument/2006/relationships/notesSlide" Target="/ppt/notesSlides/notesSlide11.xml" Id="R780f3b0a1b7f45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b4450dfae24aad" /><Relationship Type="http://schemas.openxmlformats.org/officeDocument/2006/relationships/notesSlide" Target="/ppt/notesSlides/notesSlide12.xml" Id="R12bd57e2d1fc4c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755ec439c4440a" /><Relationship Type="http://schemas.openxmlformats.org/officeDocument/2006/relationships/notesSlide" Target="/ppt/notesSlides/notesSlide13.xml" Id="R23e731f92cc14f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19405d792a4860" /><Relationship Type="http://schemas.openxmlformats.org/officeDocument/2006/relationships/notesSlide" Target="/ppt/notesSlides/notesSlide14.xml" Id="Re8f3d05dfc1240b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[실제 데이터 입력]</c:v>
          </c:tx>
          <c:spPr>
            <a:solidFill xmlns:a="http://schemas.openxmlformats.org/drawingml/2006/main">
              <a:srgbClr val="0070C0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[시장 1]</c:v>
                </c:pt>
                <c:pt idx="1">
                  <c:v>[시장 2]</c:v>
                </c:pt>
                <c:pt idx="2">
                  <c:v>[시장 3]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B7CDE3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9FD"/>
        </a:solidFill>
      </c:spPr>
    </c:plotArea>
    <c:plotVisOnly val="1"/>
  </c:chart>
  <c:spPr>
    <a:solidFill xmlns:a="http://schemas.openxmlformats.org/drawingml/2006/main">
      <a:srgbClr val="F5F9F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[실제 데이터 입력]</c:v>
          </c:tx>
          <c:spPr>
            <a:solidFill xmlns:a="http://schemas.openxmlformats.org/drawingml/2006/main">
              <a:srgbClr val="0070C0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[Y1]</c:v>
                </c:pt>
                <c:pt idx="1">
                  <c:v>[Y2]</c:v>
                </c:pt>
                <c:pt idx="2">
                  <c:v>[Y3]</c:v>
                </c:pt>
                <c:pt idx="3">
                  <c:v>[Y4]</c:v>
                </c:pt>
                <c:pt idx="4">
                  <c:v>[Y5]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B7CDE3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9FD"/>
        </a:solidFill>
      </c:spPr>
    </c:plotArea>
    <c:plotVisOnly val="1"/>
  </c:chart>
  <c:spPr>
    <a:solidFill xmlns:a="http://schemas.openxmlformats.org/drawingml/2006/main">
      <a:srgbClr val="F5F9F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867910-6581-4B9D-9E70-6953E260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28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F727F-D9A5-46DA-9B8E-1D91E2B3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524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COMPANY 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6B11A-3EF7-45B3-8392-91707C2A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"/>
            <a:ext cx="8477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70C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D4534-0898-4250-A07F-345B153A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90500"/>
            <a:ext cx="158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[기업명]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54FF2-CF14-4BD2-9498-39FE23BC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[기업명]의 고객 가치와 사업 목적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5401C-F691-440D-98D7-7D0DA685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419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누구의 어떤 문제를 해결하며 어떤 가치를 제공하는가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394E9-A8CF-4B79-A8AC-37F6CAD3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620000"/>
            <a:ext cx="1419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자료: [문서명·페이지·기준일]  /  색상: [기업 IR의 대표색으로 교체]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4D164-E714-44CB-A21A-EDB052A5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67650"/>
            <a:ext cx="1419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※ 대괄호는 입력 슬롯입니다. 숫자 0은 차트 입력 전 빈 값이며 실제 실적·목표가 아닙니다.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76FF8-CF5D-4421-998B-4698CC4F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5775"/>
            <a:ext cx="15240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78F2F-02EE-4E28-B6F3-AB09F7B2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143875"/>
            <a:ext cx="1381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[이 장표의 근거 있는 핵심 메시지]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484E8-AC18-4373-820E-B05C26CC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172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400DC-BD91-4A68-8CF9-D1ABE2E4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478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C7C338-55A9-4169-B634-2E000A0F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핵심 가치와 제품 | 한 문장으로 사업 정의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6DCA6-8F5D-4C34-A946-4EDF025F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4095750" cy="2867025"/>
          </a:xfrm>
          <a:prstGeom xmlns:a="http://schemas.openxmlformats.org/drawingml/2006/main" prst="roundRect">
            <a:avLst>
              <a:gd name="adj" fmla="val 2658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37C0A-4FAF-48F9-8D76-3780F3B6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4095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18814-FDA9-4EFD-A4D1-9A3B7A7C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4095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D6196-6608-439E-A164-3B4EB667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3829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고객과 문제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362CD-D43E-4F2D-8CE5-47A7E020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[핵심 고객]</a:t>
            </a:r>
          </a:p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[고객 과업·문제]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ED191-C47D-4E5F-B793-0DE8B75E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28875"/>
            <a:ext cx="4457700" cy="2867025"/>
          </a:xfrm>
          <a:prstGeom xmlns:a="http://schemas.openxmlformats.org/drawingml/2006/main" prst="roundRect">
            <a:avLst>
              <a:gd name="adj" fmla="val 2658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7D76B1-F075-49B9-99D4-8145CA62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28875"/>
            <a:ext cx="44577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D5FE6D-AD5F-497C-A502-9AAA815A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67000"/>
            <a:ext cx="4457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F8FAA3-338D-419E-861A-E77ED05F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146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[기업명]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D1BBFA-56C9-4BBF-8C4A-2EA655A4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76575"/>
            <a:ext cx="395287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C375C8-22FF-446E-B95F-45C4912A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57600"/>
            <a:ext cx="3800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[제품·서비스 원본 이미지]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A13C9C-4B12-4FF0-8CEB-8C49B29D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667250"/>
            <a:ext cx="412432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331457-56D2-4D81-945F-15E4BF3F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752975"/>
            <a:ext cx="3895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[핵심 제품·차별적 가치]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5FD41C-14C7-435E-B2F3-028D22F4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24250"/>
            <a:ext cx="857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A22877-BEF0-4C4A-A32A-8B0C9F41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28875"/>
            <a:ext cx="3543300" cy="2867025"/>
          </a:xfrm>
          <a:prstGeom xmlns:a="http://schemas.openxmlformats.org/drawingml/2006/main" prst="roundRect">
            <a:avLst>
              <a:gd name="adj" fmla="val 2658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D5A221-7A9C-4182-9895-2E28B44D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28875"/>
            <a:ext cx="3543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A4D5E2-7D40-4121-819D-B95F9941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0"/>
            <a:ext cx="3543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44C96F-0733-4D74-B0B5-0F9D85A4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51460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제공 가치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110E6A-4279-4EB5-B94F-94202EA8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267075"/>
            <a:ext cx="30861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1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1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1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1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1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1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1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1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1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[고객 편익]</a:t>
            </a:r>
          </a:p>
          <a:p xmlns:a="http://schemas.openxmlformats.org/drawingml/2006/main">
            <a:pPr algn="ctr">
              <a:defRPr sz="21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[사업의 존재 목적]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96535F-4683-46D3-811F-D7A11536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524250"/>
            <a:ext cx="857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25D76C-4460-4E63-843C-4469F7A7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054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C07E47-1FA4-461C-B431-E86E5E60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기업 개요와 검증 성과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CEAF36-535A-42FA-ADD0-E9C00561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32956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9A9214-3877-4D63-BE56-676CCD09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3067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[설립일]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A0BB4F-F2CA-4480-BB31-D450B350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6200775"/>
            <a:ext cx="32956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ED3535-7832-4921-9087-ABD2F5DA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286500"/>
            <a:ext cx="3067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[핵심 기술]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0F5339-69CC-49F1-9935-C72339AC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200775"/>
            <a:ext cx="32956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6808E9-5F59-44CD-8DC0-62A76519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286500"/>
            <a:ext cx="3067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[검증 성과]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9EE33E-157C-4277-89F5-7F712139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200775"/>
            <a:ext cx="32956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720168-C1B8-4461-8AA3-2ED919AB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3067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[투자 이력]</a:t>
            </a:r>
          </a:p>
        </p:txBody>
      </p:sp>
    </p:spTree>
    <p:extLst>
      <p:ext uri="{BB962C8B-B14F-4D97-AF65-F5344CB8AC3E}">
        <p14:creationId xmlns:p14="http://schemas.microsoft.com/office/powerpoint/2010/main" val="4664158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F78CAA-D041-48AD-8370-662A8F6C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28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7885B-9187-4961-A5BF-01BF844D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524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282D7-7B61-438A-98A8-EF5895A7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9100"/>
            <a:ext cx="95250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70C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24332-FD9A-4BCB-9763-C177BD47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90500"/>
            <a:ext cx="158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[기업명]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AE25B-5C0E-4FEC-AEF8-3299189C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고객이 겪는 문제와 현재 대안의 한계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44358-3C50-4EB3-A9B6-BC09B245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419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고객 과업·비용·시간·위험을 구분하고 근거를 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18E06-A752-44E4-9D29-26E80E50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620000"/>
            <a:ext cx="1419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자료: [문서명·페이지·기준일]  /  색상: [기업 IR의 대표색으로 교체]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06526-BA74-41C1-8DDE-7679FDF1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67650"/>
            <a:ext cx="1419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※ 대괄호는 입력 슬롯입니다. 숫자 0은 차트 입력 전 빈 값이며 실제 실적·목표가 아닙니다.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0B005-9E02-4EB3-BC72-FBB745C2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5775"/>
            <a:ext cx="15240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59F50-A14D-45AA-AA98-611606E1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143875"/>
            <a:ext cx="1381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[이 장표의 근거 있는 핵심 메시지]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B1EA2-F949-418C-8311-7221B994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172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ED8B9-E7A0-441D-82C3-0748FD6B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478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E0030-850B-4329-AE8D-280CDDA4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현재 대안과 미충족 수요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AFFAD-6606-4A6E-AACE-A950AD24E1B5}"/>
              </a:ext>
            </a:extLst>
          </p:cNvPr>
          <p:cNvGraphicFramePr/>
          <p:nvPr/>
        </p:nvGraphicFramePr>
        <p:xfrm>
          <a:off xmlns:a="http://schemas.openxmlformats.org/drawingml/2006/main" x="457200" y="2457450"/>
          <a:ext xmlns:a="http://schemas.openxmlformats.org/drawingml/2006/main" cx="1432560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3571875"/>
                <a:gridCol w="3238500"/>
                <a:gridCol w="4419600"/>
              </a:tblGrid>
              <a:tr h="728663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 과업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대안 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대안 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미충족 수요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728663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[과업 1]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[현행 방식]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[현행 방식]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[증빙·영향]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728663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[과업 2]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[제약·비용]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[제약·비용]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[고객 요구]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728663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[과업 3]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[한계]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[한계]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[구매 이유]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69914-8150-4B7F-94CF-D44CA679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054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6A1E3-69C3-4A06-A730-FEBA7D53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고객 검증 근거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9F191-6BC8-4AA7-9E94-22554820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905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FEC59F-9C96-4B3B-B1A3-54F9BC81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[인터뷰·현장]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A46C9-4094-49BB-A582-7817AAAF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248400"/>
            <a:ext cx="45910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[고객 의견과 확인일]</a:t>
            </a:r>
          </a:p>
          <a:p xmlns:a="http://schemas.openxmlformats.org/drawingml/2006/main">
            <a: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[증빙·표본·도입 의사]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2C0A2-EDB3-4DC6-9BA5-614CB44B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096000"/>
            <a:ext cx="1905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3D02CA-F9CB-4E8B-8E86-4860B4C6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[고객 자료]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1C2646-821D-4823-BD11-E6EEB336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248400"/>
            <a:ext cx="45529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[추가 고객 의견]</a:t>
            </a:r>
          </a:p>
          <a:p xmlns:a="http://schemas.openxmlformats.org/drawingml/2006/main">
            <a:pPr algn="l">
              <a:def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[계약·인터뷰 상태 구분]</a:t>
            </a:r>
          </a:p>
        </p:txBody>
      </p:sp>
    </p:spTree>
    <p:extLst>
      <p:ext uri="{BB962C8B-B14F-4D97-AF65-F5344CB8AC3E}">
        <p14:creationId xmlns:p14="http://schemas.microsoft.com/office/powerpoint/2010/main" val="776774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D399A98-072B-4AB4-A9D1-AD2E45FB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28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05CE1-509D-4507-B024-6A9101CC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524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A57B0-C52D-45D5-AE85-ACF84906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9100"/>
            <a:ext cx="95250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70C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4DD05-D23B-4CCC-B0C5-E5EDAB42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90500"/>
            <a:ext cx="158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[기업명]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FF4A7-B600-4C6A-8D9D-DD3AE8A9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핵심 기술을 제품과 고객 가치로 연결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05A48-C264-40FF-9086-C14498E9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419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검증된 기능과 개발 목표를 나누어 설명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A897A-83FE-409F-AD9C-E1C67F51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620000"/>
            <a:ext cx="1419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자료: [문서명·페이지·기준일]  /  색상: [기업 IR의 대표색으로 교체]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9C1C2-53E6-4C8E-9F39-65D38FD5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67650"/>
            <a:ext cx="1419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※ 대괄호는 입력 슬롯입니다. 숫자 0은 차트 입력 전 빈 값이며 실제 실적·목표가 아닙니다.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452CB-5D1E-4462-AAF0-47902648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5775"/>
            <a:ext cx="15240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343B6-9BBB-4AE3-8EFB-9AB4877C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143875"/>
            <a:ext cx="1381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[이 장표의 근거 있는 핵심 메시지]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69B4E-6392-40DF-82E5-E8B2BB9C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172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A68AC-8E65-4DB0-99B3-922658EA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478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3D3674-64D8-42D5-9C50-653706E0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기술·제품·고객 가치의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9C575-9941-4652-BFD6-ED722BA8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3952875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69126-156B-4AC8-8191-6F359B31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3952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164F2-7563-443B-B6E6-CC06C41E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3952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A55E8-1738-478B-95B8-FF63A2F5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3686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기술 과제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67610-6194-4347-855F-A7097C65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357187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3AFBB6-49E6-41E6-B57B-7782D5BD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341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[작동 환경·문제]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C6E5C-A7CD-43F2-9A86-1179A309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752975"/>
            <a:ext cx="3667125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0D156F-BC48-40EB-828D-9781E472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38700"/>
            <a:ext cx="3438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[검증된 차별점]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F0F55-3BE5-4157-884C-FB480C6D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52825"/>
            <a:ext cx="857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FBFF57-BEFB-4284-A2D3-9BBF033F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28875"/>
            <a:ext cx="447675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88D12-2846-49D4-A64B-A2C07205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28875"/>
            <a:ext cx="4476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FC8DB-C092-4039-82AA-A9AC9B81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67000"/>
            <a:ext cx="447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15C7C4-9F60-46AF-A57E-A3371750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14600"/>
            <a:ext cx="421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핵심 기술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31E057-9A2A-4E7E-B164-91EF1119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95625"/>
            <a:ext cx="4095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9D2B11-C032-41B7-8B51-8A007885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7665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[원본 기술·성능 그림]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E0456F-7018-4C2E-B77F-9BA98D4F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752975"/>
            <a:ext cx="4191000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25E575-BADB-4197-BF76-82C37DEB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838700"/>
            <a:ext cx="3962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[검증된 차별점]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535707-3BE3-44BC-BE1D-DC98E9D5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52825"/>
            <a:ext cx="857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B31100-316D-478D-965B-B1E7C22F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2428875"/>
            <a:ext cx="3533775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07B702-1F45-4BFB-861C-5F6AA80D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2428875"/>
            <a:ext cx="35337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DFA56C-55CE-4AD4-AE5E-C4370C09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2667000"/>
            <a:ext cx="35337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05F35C-6581-4380-8EED-0CCA1C6D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2514600"/>
            <a:ext cx="3267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제품·고객 산출물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C936A6-525D-4AD5-A216-C2B6F304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3095625"/>
            <a:ext cx="315277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9B933D-E2D6-46C1-9C00-8645DDC1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6766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[제품·서비스 이미지]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9AD913-E866-4171-9333-BD21353A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752975"/>
            <a:ext cx="3248025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1F7DB2-D628-4C30-967F-CC4A44AF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838700"/>
            <a:ext cx="30194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[검증된 차별점]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AB455E-4E76-41B0-8C07-FE52F7CA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340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512BDB-0BA5-44DC-9ACD-C7EA46E1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고객에게 가치를 제공하는 과정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0D50C7-72EE-4295-8B90-BE6FE4D5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32956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18296E-B248-403E-9E13-33BCF997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4365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3F588A-FFBF-43A9-8844-4C78ADAB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371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83E2AE-FE54-42CB-AD77-906716CE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3341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020A9A-FB98-40FD-BE49-C1DC4EFC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6770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[고객·원재료·데이터]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536889-8DC3-4017-AFE6-C6E2D293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334125"/>
            <a:ext cx="228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9C6663-D992-4D03-B896-628828C5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6191250"/>
            <a:ext cx="32956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E76CAA-9961-42E9-9167-89E5BEFF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34365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183B75-AFCB-415D-9F56-2C6A481C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410325"/>
            <a:ext cx="371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A74AFA-649C-4607-9D99-3A8AC7A1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3341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핵심 처리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06541B-ECB2-4E76-8E9C-5583ED53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6770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[기술·기능]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09E800-AE9A-4BCE-B31F-54BD161A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334125"/>
            <a:ext cx="228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CFB904-CC04-47CD-9C91-E8B92A28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91250"/>
            <a:ext cx="32956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626D39-8FB2-46EB-8FF7-8E09FBED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34365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505AB8-5F5F-460A-8157-7D12BB4D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410325"/>
            <a:ext cx="371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BCCFE9-9BE3-4363-BC32-5A1D7B25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341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검증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7CA30D3-9421-464E-8139-594125BA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6770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[성능·품질 기준]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44A4BD9-A5C0-45C2-BD4C-AF0F1B67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228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088F0A-C578-4FCB-9894-2A4FAC4F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191250"/>
            <a:ext cx="32956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C86E141-B854-4B25-87E3-FD2079E2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34365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430B574-CC4E-4821-BC49-470EE44F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410325"/>
            <a:ext cx="371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993EC42-BBE9-4A59-887B-B40973A9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3341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산출물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D9DCC1B-CE14-4500-8E59-BAE82610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6770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[고객 가치]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5CD9833-1E2B-4C89-8C47-D7854DAB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34225"/>
            <a:ext cx="14325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0D1DAD8-061B-450F-B6DD-8F90C4EF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19950"/>
            <a:ext cx="1409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[완료·진행 중·목표 상태 표시]</a:t>
            </a:r>
          </a:p>
        </p:txBody>
      </p:sp>
    </p:spTree>
    <p:extLst>
      <p:ext uri="{BB962C8B-B14F-4D97-AF65-F5344CB8AC3E}">
        <p14:creationId xmlns:p14="http://schemas.microsoft.com/office/powerpoint/2010/main" val="644619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6239C10-40AD-46E5-85DD-5B820513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28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F5847-E66E-4C0B-87C0-437EC8A7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524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WHY NOW?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86603-4A93-49A8-AB43-2B49998E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9100"/>
            <a:ext cx="95250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70C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BECA5-12E1-4D1F-86B9-9C0623A5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90500"/>
            <a:ext cx="158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[기업명]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D4388-C740-4FF3-8E4B-06E89314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지금 시장에 진입해야 하는 근거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75F1F-D58A-4D35-89D5-39B1C037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419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시장 변화·고객 수요·기술 성숙도를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AEA4D-424D-4544-B243-D314D694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620000"/>
            <a:ext cx="1419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자료: [문서명·페이지·기준일]  /  색상: [기업 IR의 대표색으로 교체]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70D3D-8128-4B07-B50D-3A2AFE47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67650"/>
            <a:ext cx="1419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※ 대괄호는 입력 슬롯입니다. 숫자 0은 차트 입력 전 빈 값이며 실제 실적·목표가 아닙니다.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82EF6-7FE1-4AB4-9C9A-828D8A88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5775"/>
            <a:ext cx="15240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B177B-1CF5-4763-82CC-270FE8DA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143875"/>
            <a:ext cx="1381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[이 장표의 근거 있는 핵심 메시지]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48107-E36A-4FCF-8E79-0D1FA81A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172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F04D4-5BFB-4446-8794-0C46BCC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478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0BD63-5FD3-45FB-A014-A3583261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시장 진입의 근거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6FC89-7541-4215-91B0-0A2C53D8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447675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3190F-F00C-4767-BE49-DFF769F6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4476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629B2-BDD0-45EE-AC16-A0494430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447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984BB-397C-4092-9A1C-8E3AAE19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421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시장·제도 변화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B0BE9-983C-4BCE-8C85-4B8F68B6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39433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[변화의 근거]</a:t>
            </a:r>
          </a:p>
          <a:p xmlns:a="http://schemas.openxmlformats.org/drawingml/2006/main">
            <a: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[기준일·출처]</a:t>
            </a:r>
          </a:p>
          <a:p xmlns:a="http://schemas.openxmlformats.org/drawingml/2006/main">
            <a: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[당사와의 연결]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74A1CC-9F2B-47CC-AE6B-6AA5BBD0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48225"/>
            <a:ext cx="4152900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821A1-1BCA-4F4F-8AAC-AEF058D9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33950"/>
            <a:ext cx="3924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[진입 기회를 입증할 근거]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88C3B0-3821-43FE-BD1A-FC4A5013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28875"/>
            <a:ext cx="447675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37103-5882-4392-9CED-B1D19A66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28875"/>
            <a:ext cx="4476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CBA5BE-AA0E-4222-8542-AA92E3A2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67000"/>
            <a:ext cx="447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DE7FE6-02E4-4687-95A5-9D6FF110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514600"/>
            <a:ext cx="421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 요구의 변화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C4CE08-D5C8-4DEE-B975-67FC7AF7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19450"/>
            <a:ext cx="39433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[변화의 근거]</a:t>
            </a:r>
          </a:p>
          <a:p xmlns:a="http://schemas.openxmlformats.org/drawingml/2006/main">
            <a: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[기준일·출처]</a:t>
            </a:r>
          </a:p>
          <a:p xmlns:a="http://schemas.openxmlformats.org/drawingml/2006/main">
            <a: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[당사와의 연결]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67E578-7F23-480B-A608-D0CC2413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848225"/>
            <a:ext cx="4152900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637A52-A0AF-4257-B8DF-E187EAF5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33950"/>
            <a:ext cx="3924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[진입 기회를 입증할 근거]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B878DE-8888-4168-9F66-D774183D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28875"/>
            <a:ext cx="447675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69307D-A202-4C85-BB4F-EDDA9D28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28875"/>
            <a:ext cx="4476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65BCFA-6F70-4809-A132-37B5E5ED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67000"/>
            <a:ext cx="447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E628E8-3A74-4E1C-9C20-A747A839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514600"/>
            <a:ext cx="421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기술·공급 기반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B3BFB0-3062-40E0-B5C5-B552818C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19450"/>
            <a:ext cx="39433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[변화의 근거]</a:t>
            </a:r>
          </a:p>
          <a:p xmlns:a="http://schemas.openxmlformats.org/drawingml/2006/main">
            <a: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[기준일·출처]</a:t>
            </a:r>
          </a:p>
          <a:p xmlns:a="http://schemas.openxmlformats.org/drawingml/2006/main">
            <a: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[당사와의 연결]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223364-88B5-4E3E-BC5D-D62E06F7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848225"/>
            <a:ext cx="4152900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AFA11F-691E-482C-A463-A42F118B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933950"/>
            <a:ext cx="3924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[진입 기회를 입증할 근거]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9F7965-B0FF-4CB6-9AE6-76FF109B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293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BF96B3-5A10-4E54-9F22-6164A85E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사업화 시기와 관문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27796F-0BE5-4ABD-BC85-6A64FB1C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32956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76446D-48F0-417C-8D1F-50D6FAB1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4D7398-0E94-4DE9-B042-C550077F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371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42D1B9-8886-4680-99B7-9BDBA976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4293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[과거]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D8F2ED-9686-4898-92F9-D7E9584F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7722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[확보한 근거]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0B21F8-6B9C-4E5D-863A-06CF18F7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429375"/>
            <a:ext cx="228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9C08CD-9E3E-40DB-B8FC-49EFC505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6286500"/>
            <a:ext cx="32956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AD0DDF-0894-4971-A020-13A8DA83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43890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ED85BF-D11C-4915-8367-7258E219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505575"/>
            <a:ext cx="371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CC0FAC-C86A-4E4E-A4D0-36AD5D98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4293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[현재]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FF4E9F-ACC6-4101-A7D1-FEE04F71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7722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[실행·검증 상태]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17AEC1-94A5-4BF7-9616-F2D902C8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29375"/>
            <a:ext cx="228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BA4ADB-AE8A-409C-A446-E3271FE7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286500"/>
            <a:ext cx="32956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16E36B-3130-4229-9C2F-3507E712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43890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EC9EA8-9351-48AB-B882-4D4CB1EC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505575"/>
            <a:ext cx="371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BB8F20-4D83-4F45-8E63-C7B6607F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293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[다음 단계]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959AED-E95E-4F8D-8737-81861C26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7722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[남은 관문]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122183B-DF91-4B24-A508-8E7524FE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228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4B2B6D-7667-4392-A7CC-46677273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286500"/>
            <a:ext cx="32956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7046EA-249E-4A80-8EC5-67F65342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43890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FB55BAA-2536-45ED-B1CB-DA297CF4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05575"/>
            <a:ext cx="371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5F5E3F-D8F1-4852-82C2-EBD7156C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293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[전환 시점]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67DFDC9-19B3-4340-826D-4285AD0E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7722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[고객·매출 연결]</a:t>
            </a:r>
          </a:p>
        </p:txBody>
      </p:sp>
    </p:spTree>
    <p:extLst>
      <p:ext uri="{BB962C8B-B14F-4D97-AF65-F5344CB8AC3E}">
        <p14:creationId xmlns:p14="http://schemas.microsoft.com/office/powerpoint/2010/main" val="10385759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9C740C-0A22-4B5F-9581-C13DC601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28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FA349-4F92-4BDD-8145-696DAC07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524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MARKET POTENTIAL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7C411-3619-44E1-84C9-CAD9C22C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"/>
            <a:ext cx="8477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70C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7E0BF-C769-41F3-8914-60DCE26A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90500"/>
            <a:ext cx="158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[기업명]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C25CE-54B3-41D8-B173-43161599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목표시장과 실제 획득 가능한 시장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ED71A-B306-4434-B4C9-0DB97289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419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지역·기간·고객·제품·단가 정의를 일치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DB5EF-D7BC-4389-8A24-1D2AF458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620000"/>
            <a:ext cx="1419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자료: [문서명·페이지·기준일]  /  색상: [기업 IR의 대표색으로 교체]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39FB6-F170-40FA-9416-64AA5A95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67650"/>
            <a:ext cx="1419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※ 대괄호는 입력 슬롯입니다. 숫자 0은 차트 입력 전 빈 값이며 실제 실적·목표가 아닙니다.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25416-F640-4727-AC92-7B77999C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5775"/>
            <a:ext cx="15240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0DBC4-E8C3-4EE0-9D56-63616CE9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143875"/>
            <a:ext cx="1381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[이 장표의 근거 있는 핵심 메시지]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B19A8-D0A8-4099-8A19-AE319008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172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D2403-1FF0-4BAB-BB60-D09B3A0D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478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5AD6B-C9C5-4C49-8703-8E81818A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목표시장 | 범위와 산식의 일치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6BDBE-50AE-4EED-9F83-311A877C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4381500" cy="3267075"/>
          </a:xfrm>
          <a:prstGeom xmlns:a="http://schemas.openxmlformats.org/drawingml/2006/main" prst="roundRect">
            <a:avLst>
              <a:gd name="adj" fmla="val 2332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F54EC5-D761-4B16-8BE8-E7F4DD90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4381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62E55-D825-43C0-ABA5-C5C4BD80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438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5FB483-731F-495D-801A-E457445D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411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초기 시장 정의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BCBC4-DEC0-4B13-8A17-F944736F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3810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[대상 고객 수]</a:t>
            </a:r>
          </a:p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× [연간 구매량]</a:t>
            </a:r>
          </a:p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× [판매 단가]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5F7C8-8C46-4223-8EE9-635206FA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28875"/>
            <a:ext cx="9544050" cy="3267075"/>
          </a:xfrm>
          <a:prstGeom xmlns:a="http://schemas.openxmlformats.org/drawingml/2006/main" prst="roundRect">
            <a:avLst>
              <a:gd name="adj" fmla="val 2332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A1F62F-5076-4BC1-A1B9-E0EC9CF1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28875"/>
            <a:ext cx="9544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731937-50D2-4F4C-A931-B1F36290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954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DE5AE3-8195-4336-A2CF-FF23A4A7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14600"/>
            <a:ext cx="927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시장별 규모 | 실제 데이터 입력</a:t>
            </a:r>
          </a:p>
        </p:txBody>
      </p:sp>
      <p:graphicFrame>
        <p:nvGraphicFramePr>
          <p:cNvPr id="23" name="Chart">
            <a:extLst xmlns:a="http://schemas.openxmlformats.org/drawingml/2006/main">
              <a:ext uri="{FF2B5EF4-FFF2-40B4-BE49-F238E27FC236}">
                <a16:creationId xmlns:a16="http://schemas.microsoft.com/office/drawing/2014/main" id="{62C7A304-C710-45B3-9D3A-E1131D9ED4DA}"/>
              </a:ext>
            </a:extLst>
          </p:cNvPr>
          <p:cNvGraphicFramePr/>
          <p:nvPr/>
        </p:nvGraphicFramePr>
        <p:xfrm>
          <a:off xmlns:a="http://schemas.openxmlformats.org/drawingml/2006/main" x="5715000" y="3143250"/>
          <a:ext xmlns:a="http://schemas.openxmlformats.org/drawingml/2006/main" cx="8572500" cy="214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6974ae5fb64f87"/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488659-34DA-40BE-B636-AC662787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314950"/>
            <a:ext cx="872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425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425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425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425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425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425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425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425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425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[지역·기준연도·단위·출처·산식]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59A986-63CB-4E8E-A02C-660F5766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198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401586-89B6-4781-89D5-87181C37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실제 획득시장과 초기 진입 고객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303DDE-DD3C-4D9B-8219-6F8C98E2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54959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61DEE3-E47F-4C5F-8776-46102E31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[우선 공략 고객군]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C3DC26-475B-4FD3-A032-983B5251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6629400"/>
            <a:ext cx="9144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CBC0DE-8449-420D-B4F3-93C20300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467475"/>
            <a:ext cx="74866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56DE9A-7CD0-42AA-854E-B7D60C88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553200"/>
            <a:ext cx="7258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9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9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9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9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9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9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9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9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9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[접근 고객 수] × [구매량] × [단가]</a:t>
            </a:r>
          </a:p>
        </p:txBody>
      </p:sp>
    </p:spTree>
    <p:extLst>
      <p:ext uri="{BB962C8B-B14F-4D97-AF65-F5344CB8AC3E}">
        <p14:creationId xmlns:p14="http://schemas.microsoft.com/office/powerpoint/2010/main" val="6113126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3E02E3-D5FC-4878-A7F7-0C72B5AD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28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9BAAD-16F4-445C-ABB1-5F6B9B05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524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COMPETITION / ALTERNATIVES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0E58C-DE16-4396-A7C5-C4A333D4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9100"/>
            <a:ext cx="585787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70C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FA54A-DDDD-4E6E-9349-24B00D93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90500"/>
            <a:ext cx="158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[기업명]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DDD9B-D589-4EC9-9FA6-EC07CCCF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고객의 구매기준으로 비교하는 경쟁·대체재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74D0D-83D2-4DE9-8179-C6CE2A6C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419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미확인 기능은 미확인으로 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FFBDA-95E1-4CCF-A013-44C88672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620000"/>
            <a:ext cx="1419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자료: [문서명·페이지·기준일]  /  색상: [기업 IR의 대표색으로 교체]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2EE14-A90C-433B-9C72-3F4F4C1B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67650"/>
            <a:ext cx="1419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※ 대괄호는 입력 슬롯입니다. 숫자 0은 차트 입력 전 빈 값이며 실제 실적·목표가 아닙니다.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BD322-3E47-4E19-A575-083BD963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5775"/>
            <a:ext cx="15240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2B285-3717-4840-A044-0D8D9049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143875"/>
            <a:ext cx="1381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[이 장표의 근거 있는 핵심 메시지]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5E1C0-02AA-43E5-9778-381EFE7C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172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48A0A-363C-42D4-A1F9-41421FFC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478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4862D-F48E-468A-935E-8B277BFB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구매 기준별 비교 | 확인 가능한 증빙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7F823-7B8D-4C14-BAA8-1F4C6FFFED25}"/>
              </a:ext>
            </a:extLst>
          </p:cNvPr>
          <p:cNvGraphicFramePr/>
          <p:nvPr/>
        </p:nvGraphicFramePr>
        <p:xfrm>
          <a:off xmlns:a="http://schemas.openxmlformats.org/drawingml/2006/main" x="457200" y="2428875"/>
          <a:ext xmlns:a="http://schemas.openxmlformats.org/drawingml/2006/main" cx="143256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86100"/>
                <a:gridCol w="3352800"/>
                <a:gridCol w="3352800"/>
                <a:gridCol w="4533900"/>
              </a:tblGrid>
              <a:tr h="619125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 구매기준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경쟁·대안 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경쟁·대안 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[기업명]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619125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[기준 1]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[출처·기능]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[출처·기능]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[증빙]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619125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[기준 2]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[확인 상태]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[확인 상태]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[검증 상태]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619125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[기준 3]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[성능·가격]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[성능·가격]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[성능·가격]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619125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[도입·허가]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[상태]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[상태]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[현재 단계]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1C6F4-1538-4096-BE4F-5E24F5BE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578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68F80-9F6A-415E-8030-A309CA10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9775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경쟁 우위의 근거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2F16D-F53E-49E6-820C-7B624456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4324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기술·제품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4D5AB-429F-4D57-9C42-45BC3FBC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199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[비교 가능한 근거]</a:t>
            </a:r>
          </a:p>
          <a:p xmlns:a="http://schemas.openxmlformats.org/drawingml/2006/main">
            <a: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[출처·기간·확인 상태]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9047C3-A291-425D-B3B4-B40A5990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324600"/>
            <a:ext cx="4324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지식재산·자원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F456AA-FDE4-49BC-9B15-D9153015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8199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[비교 가능한 근거]</a:t>
            </a:r>
          </a:p>
          <a:p xmlns:a="http://schemas.openxmlformats.org/drawingml/2006/main">
            <a: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[출처·기간·확인 상태]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CE15EA-ECB4-47FF-812F-06A61B4C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24600"/>
            <a:ext cx="4324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실적·검증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B2979-7B0F-438B-9B61-4F0AD841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8199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[비교 가능한 근거]</a:t>
            </a:r>
          </a:p>
          <a:p xmlns:a="http://schemas.openxmlformats.org/drawingml/2006/main">
            <a:pPr algn="l">
              <a:def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[출처·기간·확인 상태]</a:t>
            </a:r>
          </a:p>
        </p:txBody>
      </p:sp>
    </p:spTree>
    <p:extLst>
      <p:ext uri="{BB962C8B-B14F-4D97-AF65-F5344CB8AC3E}">
        <p14:creationId xmlns:p14="http://schemas.microsoft.com/office/powerpoint/2010/main" val="11496580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4C71062-C10A-43EC-8B7E-499B96C6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28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7F7CA-A44D-4A42-9B27-5D366848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524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BUSINESS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ABF6D-44A6-4E8B-9A8F-8322E80C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"/>
            <a:ext cx="8477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70C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C604C-D9DD-496B-9308-9DB08F09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90500"/>
            <a:ext cx="158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[기업명]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1087A-EFE7-423E-AC51-8CDD6842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고객·제품·채널·현금흐름을 연결하는 BM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4B247-C0B2-4207-BB6D-944BD6C6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419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가치 전달과 대금 흐름을 분리하고 반복 거래 조건을 명시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52B1B-FE1B-4AB1-916A-040294D9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620000"/>
            <a:ext cx="1419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자료: [문서명·페이지·기준일]  /  색상: [기업 IR의 대표색으로 교체]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06C52-6A8C-4E06-A3AD-B1C237AE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67650"/>
            <a:ext cx="1419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※ 대괄호는 입력 슬롯입니다. 숫자 0은 차트 입력 전 빈 값이며 실제 실적·목표가 아닙니다.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9B060-B0A5-4451-A5FB-617E9A64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5775"/>
            <a:ext cx="15240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CE8EA-11E1-4E74-9EB3-EE8008C7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143875"/>
            <a:ext cx="1381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[이 장표의 근거 있는 핵심 메시지]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7959E-5D89-4252-87F5-EC1187D1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172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273EF-2CB0-4574-9FC8-01B61DE6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478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3FEB2-9D16-49FE-95E2-263843FC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가치제안과 공급 구조 | 추진 모델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90AA9E-4F7D-4C00-8A07-EC75B80A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3914775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CBD1A-AC4C-44CD-88D7-1710F1E2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39147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02EFD3-508F-43AB-93C5-B67A1A31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39147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54CC0-5180-40D0-ACC2-8A055B37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3648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공급·검증 파트너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B613B-1E24-45F3-8F58-769EEF1D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14675"/>
            <a:ext cx="14573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B3AFBF-1537-481A-9275-FD621B1E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09950"/>
            <a:ext cx="1304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[로고·이미지]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C00B44-F453-4CDE-A0F8-55305BE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14675"/>
            <a:ext cx="17430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78124-A35B-44A5-BFD8-9EF3881F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09950"/>
            <a:ext cx="1590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[로고·이미지]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980B24-94AF-48E5-A4EC-9B0DF72E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352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[파트너의 역할]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39E7F9-1275-44A1-9AD3-4638F3A9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36480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32BA88-44B0-4A8C-A6FD-7F870E90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3419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[투입 자원·검증·후공정]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49C780-7346-4BA1-9501-0EF063E4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28875"/>
            <a:ext cx="4429125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40A73E-5875-4531-A153-0E30FE2C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28875"/>
            <a:ext cx="44291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75A4E5-549D-4D20-AC94-AB911510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67000"/>
            <a:ext cx="4429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A4C40E-C1CA-4A00-AD89-F83D8E12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14600"/>
            <a:ext cx="4162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[기업명]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5F4F3E-4524-4B54-8DD2-408D0610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95625"/>
            <a:ext cx="1714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3FA968-FD02-4D4E-8FE7-35CB082E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19475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[제품·서비스]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8778EC-71F8-4B63-85CF-3F01EC8F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95625"/>
            <a:ext cx="20955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[핵심 자원]</a:t>
            </a:r>
          </a:p>
          <a:p xmlns:a="http://schemas.openxmlformats.org/drawingml/2006/main">
            <a:pPr algn="l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[주요 활동]</a:t>
            </a:r>
          </a:p>
          <a:p xmlns:a="http://schemas.openxmlformats.org/drawingml/2006/main">
            <a:pPr algn="l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[고객 가치]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CA299B-11F6-4161-B4D2-48BBBDB6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438650"/>
            <a:ext cx="411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0FBAA0-C701-4380-9000-405242F2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524375"/>
            <a:ext cx="3886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[제공 제품·서비스]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EEBD64-3630-47BA-BCC1-6FE18ED4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428875"/>
            <a:ext cx="3476625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10A9CE-73F2-4E4E-A729-92F0A8BA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428875"/>
            <a:ext cx="347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F2B352-2484-4444-9224-4B805899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667000"/>
            <a:ext cx="3476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9CE7C9-B996-4B6C-A0D7-E4FAAEB8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2514600"/>
            <a:ext cx="3209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목표 고객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A250E1-17BD-4076-805B-2D604AC2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095625"/>
            <a:ext cx="12477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CEC960-8B63-477A-A2CA-230E7583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3424238"/>
            <a:ext cx="109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[이미지]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68460E-7636-46B8-849C-A7E924A8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275" y="3133725"/>
            <a:ext cx="1733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[구매자]</a:t>
            </a:r>
          </a:p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[사용자]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34333B-CA93-469F-B438-B37867C5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438650"/>
            <a:ext cx="32099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8B9C46-ECD0-49C7-8352-F5C8485D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524375"/>
            <a:ext cx="2981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[평가·초기 공급 협의]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0392CB-84D8-443C-AB23-BE369052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95675"/>
            <a:ext cx="8763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D91029-4D13-4EAD-AD11-583AEF44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95675"/>
            <a:ext cx="8763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1ACB0C-E90A-42A7-90B1-FABC84F0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6905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18AB8C-69FF-47FE-B637-2B95A432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667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매출 유입  [구매자] → [기업명] | [판매대금]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40DE76-CAFF-4659-A6A2-F58F4D56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010150"/>
            <a:ext cx="7286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23C3BA-FBBF-4DC3-B98E-3989ACFA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095875"/>
            <a:ext cx="7058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비용 지출  [기업명] → [파트너] | [주요 비용]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D2019D-B0B5-48B0-AE3F-BC03905C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7692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619BD5-DC71-44FC-838B-B77E16E3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38825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사업화 실행 단계 | 공급 전환과 반복 거래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B10820-7E49-4596-A9D1-341F26DC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32956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603F7D-AAD5-48B7-870F-191C3B9A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B2DB75-2C5B-4640-A5F1-EB9E7C13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371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C6E8B0-593A-4596-B13D-CCE126E4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4293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제품·검증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F74E429-4907-46B5-8F54-EE2C228D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7722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[요구 사양 반영]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2AEC0E-7F86-4F7C-9C4C-842549C6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429375"/>
            <a:ext cx="228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92AB5BB-93E5-4AA1-97B2-C5BB2F53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6286500"/>
            <a:ext cx="32956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75949EB-7B37-4E29-968C-35D47E78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43890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92C39E7-9725-4631-A82C-303FDF09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505575"/>
            <a:ext cx="371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F80DE70-8A99-41F8-99F8-97F1B9C7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4293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고객 평가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756477A-95F3-4C84-8629-8A775B26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7722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[품질·경제성 검증]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FCCD532-FD0C-42B9-9EE1-C33F534D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29375"/>
            <a:ext cx="228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A63EC68-8961-47B0-8A32-2B805C7B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286500"/>
            <a:ext cx="32956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BAD6FE-00A0-47D9-9691-65737C53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43890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949E3CE-3DEE-4452-87BF-541D5012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505575"/>
            <a:ext cx="371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4F63817-DAAE-4C1E-B847-00A13783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293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초기 공급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399C26-98C4-47BF-8B84-8A6981D0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7722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[계약·물량·단가]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A8C2894-EBA6-47E6-B71A-D9193B0B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228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2FCE6C7-9D4F-4F4B-9E7D-AF4D207B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286500"/>
            <a:ext cx="32956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1F781F3-5033-468F-BCD9-AA0FA5ED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43890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DB56572-3A2B-415D-B9A8-63866D98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05575"/>
            <a:ext cx="371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194610B-2BDA-448E-B91A-7814B364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293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단계적 확대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FC0FA17-2604-45ED-8CB1-70CF2AB3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7722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[재구매·품질·납기]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04CD799-DE51-4DD4-ADAA-CB0B8622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53275"/>
            <a:ext cx="143256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A0B6360-3ADD-46A4-BA46-B28A9750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0"/>
            <a:ext cx="1409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반복 거래 조건: [고객 평가·품질·납기·공급 안정성]</a:t>
            </a:r>
          </a:p>
        </p:txBody>
      </p:sp>
    </p:spTree>
    <p:extLst>
      <p:ext uri="{BB962C8B-B14F-4D97-AF65-F5344CB8AC3E}">
        <p14:creationId xmlns:p14="http://schemas.microsoft.com/office/powerpoint/2010/main" val="1134611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E1D1BB-E139-4887-A11C-EAF83D5C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28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E88B8-4C60-450C-AC06-CA6B63AD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524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FDEEE-850E-4362-A337-124FB144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9100"/>
            <a:ext cx="95250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70C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31A17-7EBA-4636-9812-A25441D5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90500"/>
            <a:ext cx="158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[기업명]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21C47-655F-4FAE-8A40-48A136FE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성장 관문을 실행할 팀과 협력 체계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2248E-E7AF-4716-AE0B-C43169DC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419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역할·경력·협력 관계의 상태를 구분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ABD92-8C86-425D-B12A-309750E6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620000"/>
            <a:ext cx="1419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자료: [문서명·페이지·기준일]  /  색상: [기업 IR의 대표색으로 교체]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CDC4E-D46A-46A0-8568-0E0E95FB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67650"/>
            <a:ext cx="1419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※ 대괄호는 입력 슬롯입니다. 숫자 0은 차트 입력 전 빈 값이며 실제 실적·목표가 아닙니다.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B95C3-3DA7-4EAC-969C-B91E06B6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5775"/>
            <a:ext cx="15240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E35C5-B065-47DD-9CED-6BE2C155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143875"/>
            <a:ext cx="1381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[이 장표의 근거 있는 핵심 메시지]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8D044-4105-40D9-AC5E-9C36821D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172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2879D-69F1-4E31-8A04-43C74030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478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5DDA9-7D7B-4C47-82B7-97F77A96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역할별 실행 역량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A0E2E-29CB-4D76-9EF5-952344AE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44767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0D02B-0E18-48A1-A634-EB4907B1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4476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BF2C4-FDD6-49D0-A413-0DD44AC7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447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C5728-B218-4C12-8049-0FAE67D5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421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대표·사업 책임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12E190-365F-4124-A816-ED7FC737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3905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[성명·역할]</a:t>
            </a:r>
          </a:p>
          <a:p xmlns:a="http://schemas.openxmlformats.org/drawingml/2006/main">
            <a: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[검증된 경력]</a:t>
            </a:r>
          </a:p>
          <a:p xmlns:a="http://schemas.openxmlformats.org/drawingml/2006/main">
            <a: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[수행 성과]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C66544-6C98-48F1-BEFA-EFDCFF64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28875"/>
            <a:ext cx="44767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598AB-43A6-4AD5-9BAD-891FF5FF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28875"/>
            <a:ext cx="4476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7C8433-96C5-43D9-9519-0A70DB7A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67000"/>
            <a:ext cx="447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4C91E-EE4E-4288-AE2D-BB0C4743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514600"/>
            <a:ext cx="421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핵심 기술·연구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639C2B-562A-4635-A75B-DB271CA9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57550"/>
            <a:ext cx="3905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[성명·역할]</a:t>
            </a:r>
          </a:p>
          <a:p xmlns:a="http://schemas.openxmlformats.org/drawingml/2006/main">
            <a: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[검증된 경력]</a:t>
            </a:r>
          </a:p>
          <a:p xmlns:a="http://schemas.openxmlformats.org/drawingml/2006/main">
            <a: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[수행 성과]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8DF89-76BF-47CB-BBF6-E5FABCB1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28875"/>
            <a:ext cx="44767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CEDA46-561A-44CA-B07F-E249BCC0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28875"/>
            <a:ext cx="4476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78BCC1-51F9-43EC-AF86-E3DCA77A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67000"/>
            <a:ext cx="447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0D1874-6D99-475B-AA9A-331E87F9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514600"/>
            <a:ext cx="421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제품·인허가·시장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33F5B0-71FC-4D06-B7E8-B2572321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57550"/>
            <a:ext cx="3905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[성명·역할]</a:t>
            </a:r>
          </a:p>
          <a:p xmlns:a="http://schemas.openxmlformats.org/drawingml/2006/main">
            <a: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[검증된 경력]</a:t>
            </a:r>
          </a:p>
          <a:p xmlns:a="http://schemas.openxmlformats.org/drawingml/2006/main">
            <a:pPr algn="ctr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[수행 성과]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8BED51-C59D-4A04-9382-2A2FFCBF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7212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2867FF-DE23-4358-B09C-850AADF0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34025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협력 기관 | 관계 상태와 역할 구분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C7B07F-BB7E-4C7E-924C-CB107A36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34766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0ED216-2A06-4C6A-BAB0-B5448333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67475"/>
            <a:ext cx="3324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[기관 로고]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647F72-E43F-4F9E-8916-19590620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53275"/>
            <a:ext cx="347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[협력·자문·계약 상태]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22F993-94B8-4992-976F-50F981D6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191250"/>
            <a:ext cx="34766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338337-4AC5-4FED-9A7D-B33C1E3C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467475"/>
            <a:ext cx="3324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[기관 로고]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83C66D-B3BF-40FE-A37F-505450A9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153275"/>
            <a:ext cx="347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[협력·자문·계약 상태]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BEF536-71BD-4E4A-979F-26095622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191250"/>
            <a:ext cx="34766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B997F9-CC8B-49C6-B20A-6D17A88A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6467475"/>
            <a:ext cx="3324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[기관 로고]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C91270-B3BE-4E30-A0BE-77540B4F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7153275"/>
            <a:ext cx="347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[협력·자문·계약 상태]</a:t>
            </a:r>
          </a:p>
        </p:txBody>
      </p:sp>
    </p:spTree>
    <p:extLst>
      <p:ext uri="{BB962C8B-B14F-4D97-AF65-F5344CB8AC3E}">
        <p14:creationId xmlns:p14="http://schemas.microsoft.com/office/powerpoint/2010/main" val="18374624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30D182-77B6-4C6F-B466-5C1F04F6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28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7D05D-A7C6-403E-A596-8DDDA4A4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524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FINANCIALS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7F371-B161-4A54-882F-AD899703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9100"/>
            <a:ext cx="95250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70C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4778A-7F5C-4057-AD23-8A3AF445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90500"/>
            <a:ext cx="158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[기업명]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4C353-A75A-4D3D-B39E-94D82434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과거 실적과 근거 기반 재무 전망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2F388-C25C-4525-A115-D00F8E36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419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실적·목표·추정·가정 및 금액 단위를 구분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E84B9-2283-4CCA-9B47-31050136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620000"/>
            <a:ext cx="1419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자료: [문서명·페이지·기준일]  /  색상: [기업 IR의 대표색으로 교체]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68072-90E5-4C23-9E3B-73939848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67650"/>
            <a:ext cx="1419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※ 대괄호는 입력 슬롯입니다. 숫자 0은 차트 입력 전 빈 값이며 실제 실적·목표가 아닙니다.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146E4-7ABD-4157-A2A1-AEFB071D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5775"/>
            <a:ext cx="15240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21F78-788C-4A7C-9CF6-70A472FD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143875"/>
            <a:ext cx="1381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[이 장표의 근거 있는 핵심 메시지]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5109D-ED70-4386-B5C4-29192DFC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172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4607B-51D0-4690-B220-3C7FFD04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478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A665A-46CB-44EA-B89F-9C4D60F9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실적과 전망 | 기간·단위·가정 구분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BBE8D-E603-4A89-A676-DDB28B35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3886200" cy="3305175"/>
          </a:xfrm>
          <a:prstGeom xmlns:a="http://schemas.openxmlformats.org/drawingml/2006/main" prst="roundRect">
            <a:avLst>
              <a:gd name="adj" fmla="val 2305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434A4-C2CF-47E2-B31D-49E44AA5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38862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6E214-A81B-4BDB-BC61-8C630950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388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E833A-8585-44D2-8FC9-4B024615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과거 실적</a:t>
            </a:r>
          </a:p>
        </p:txBody>
      </p:sp>
      <p:graphicFrame>
        <p:nvGraphicFrame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87C517-06D6-4D61-A599-C9D0682529E0}"/>
              </a:ext>
            </a:extLst>
          </p:cNvPr>
          <p:cNvGraphicFramePr/>
          <p:nvPr/>
        </p:nvGraphicFramePr>
        <p:xfrm>
          <a:off xmlns:a="http://schemas.openxmlformats.org/drawingml/2006/main" x="628650" y="3086100"/>
          <a:ext xmlns:a="http://schemas.openxmlformats.org/drawingml/2006/main" cx="35433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85925"/>
                <a:gridCol w="1857375"/>
              </a:tblGrid>
              <a:tr h="480060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금액·상태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480060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[연도 1]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[실적]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480060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[연도 2]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[실적]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480060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[연도 3]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[실적]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480060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투자 이력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[금액·시기]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F1AF92-2DD3-439D-A960-FDFDC731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10020300" cy="3305175"/>
          </a:xfrm>
          <a:prstGeom xmlns:a="http://schemas.openxmlformats.org/drawingml/2006/main" prst="roundRect">
            <a:avLst>
              <a:gd name="adj" fmla="val 2305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231261-8265-4245-A227-D5C4852F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10020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5EFAFB-8955-4196-8E3C-33A4C123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10020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7152F5-8E3A-40A8-A6BE-0E6FAF24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14600"/>
            <a:ext cx="975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5개년 매출 전망 | 실제 데이터 입력</a:t>
            </a:r>
          </a:p>
        </p:txBody>
      </p:sp>
      <p:graphicFrame>
        <p:nvGraphicFramePr>
          <p:cNvPr id="23" name="Chart">
            <a:extLst xmlns:a="http://schemas.openxmlformats.org/drawingml/2006/main">
              <a:ext uri="{FF2B5EF4-FFF2-40B4-BE49-F238E27FC236}">
                <a16:creationId xmlns:a16="http://schemas.microsoft.com/office/drawing/2014/main" id="{F03B325A-3932-41B3-959F-93729728DC02}"/>
              </a:ext>
            </a:extLst>
          </p:cNvPr>
          <p:cNvGraphicFramePr/>
          <p:nvPr/>
        </p:nvGraphicFramePr>
        <p:xfrm>
          <a:off xmlns:a="http://schemas.openxmlformats.org/drawingml/2006/main" x="5191125" y="3181350"/>
          <a:ext xmlns:a="http://schemas.openxmlformats.org/drawingml/2006/main" cx="9172575" cy="2257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137b3563664a07"/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F63B5-FFB0-4E90-933F-61FA80BA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388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C69C44-2018-47F1-A2EF-D6C1A048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매출·원가·손익·현금흐름의 연결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857638-CFB4-46AF-BE79-74B787F6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7630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1CAF88-351C-4D59-BF93-0353BE98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62725"/>
            <a:ext cx="8534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[고객 수] × [구매량] × [단가] = [매출]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A0C2AD-ABFE-4ACD-A9EA-9FF01EDB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477000"/>
            <a:ext cx="53911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F3DDEF-B562-48F3-9FE2-AF9395D3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562725"/>
            <a:ext cx="5162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[원가·판관비·영업이익]</a:t>
            </a:r>
          </a:p>
          <a:p xmlns:a="http://schemas.openxmlformats.org/drawingml/2006/main">
            <a: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[현금흐름·런웨이·가정]</a:t>
            </a:r>
          </a:p>
        </p:txBody>
      </p:sp>
    </p:spTree>
    <p:extLst>
      <p:ext uri="{BB962C8B-B14F-4D97-AF65-F5344CB8AC3E}">
        <p14:creationId xmlns:p14="http://schemas.microsoft.com/office/powerpoint/2010/main" val="2938730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FB4E816-FB96-4465-B496-708D2B7E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28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68B35-AFF4-464D-8F6B-D8A9FF83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524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B449F-159F-492C-865D-09238F98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9100"/>
            <a:ext cx="95250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70C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E333A-E9CD-40E6-A3BD-D633C53E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90500"/>
            <a:ext cx="158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[기업명]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C08AA-E319-4F44-A6E6-43DEE660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제품·고객·시장 확장과 중장기 비전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7694F-BF50-47C4-A36A-21B489AD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419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각 단계의 시기·KPI·자금·관문을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0800F-2D86-40E6-A92E-1ACA5258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620000"/>
            <a:ext cx="1419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자료: [문서명·페이지·기준일]  /  색상: [기업 IR의 대표색으로 교체]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E29AC-4B1B-4CFD-82CD-963BAB48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67650"/>
            <a:ext cx="1419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※ 대괄호는 입력 슬롯입니다. 숫자 0은 차트 입력 전 빈 값이며 실제 실적·목표가 아닙니다.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23877-F161-4A34-BD98-F71BD35E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5775"/>
            <a:ext cx="15240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18903-52BC-4C1D-AB57-6EB95F2B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143875"/>
            <a:ext cx="1381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[이 장표의 근거 있는 핵심 메시지]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704C8-EF63-4A73-ACCF-5F748DA3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172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3AED9-784B-4ECA-8FE4-22FA25C8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478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8B394-4E7C-4DBC-97BE-C8859D59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제품·고객·시장 확장 방향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5E8C6-E904-4F04-8CC5-8EC25E60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329565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02D28-1B01-429C-AB59-88C7F9A1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32956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C364DC-1ECF-480D-B2A2-A09C0CCB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3295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615A5-132F-4741-A692-8C6C0999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제품군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C54CF-2834-4651-9144-E3126214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38500"/>
            <a:ext cx="28956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[제품·시장]</a:t>
            </a:r>
          </a:p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[개발·검증 상태]</a:t>
            </a:r>
          </a:p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[확장 근거]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FCE9F5-5DA9-489D-9364-DA52BA26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28875"/>
            <a:ext cx="329565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D4E5B1-C7B5-44E9-8AA9-69A7749D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28875"/>
            <a:ext cx="32956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F44D7-0832-49F2-A4E6-D978E5DF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67000"/>
            <a:ext cx="3295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3C8BD6-899D-430F-8DED-ABF18F5A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146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제품군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A97682-1F11-4023-A39F-7A5D757A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38500"/>
            <a:ext cx="28956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[제품·시장]</a:t>
            </a:r>
          </a:p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[개발·검증 상태]</a:t>
            </a:r>
          </a:p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[확장 근거]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747E8E-8932-421A-8905-62A5236C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28875"/>
            <a:ext cx="329565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6D41A5-00D1-4C25-A959-A88E289B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28875"/>
            <a:ext cx="32956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778725-EF9E-4DF9-B57B-F5EFEA73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3295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147220-5E18-4E19-9670-213A2CB0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신시장·채널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4BF120-A213-4F73-A2C6-43AC6AEA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238500"/>
            <a:ext cx="28956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[제품·시장]</a:t>
            </a:r>
          </a:p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[개발·검증 상태]</a:t>
            </a:r>
          </a:p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[확장 근거]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162639-15CB-4350-A7C9-0622F928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428875"/>
            <a:ext cx="329565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662F4C-94A1-4F1F-AB59-A427577B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428875"/>
            <a:ext cx="32956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D8A3ED-6849-4D36-B4FA-681E6E4B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667000"/>
            <a:ext cx="3295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5112F6-C6CA-4D7A-BFB5-DE101084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5146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장기 비전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0930A9-A918-4BC9-996E-F98FBD5C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3238500"/>
            <a:ext cx="28956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[제품·시장]</a:t>
            </a:r>
          </a:p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[개발·검증 상태]</a:t>
            </a:r>
          </a:p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[확장 근거]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A3A672-BFFB-4805-94AF-9F76EEA0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1972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8FC89F-5572-4F95-9063-B505747D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성장 관문과 핵심 KPI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5049EC-9733-440F-9B67-3519503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32956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404194-2E3D-4FC0-AED4-932B9B7E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5790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F752F8-EC1E-4C5F-B348-8B08983D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371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8E961D-5F19-4BB2-A790-0770A577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483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검증·허가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B44058-AAE8-49AD-B97E-B9BC5D21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3912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[성능·허가·인증]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6895C7-FFFE-47E5-8C08-68321552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048375"/>
            <a:ext cx="228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29B5E2-F5EF-411E-B784-9E9B1587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905500"/>
            <a:ext cx="32956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D0BFCB-12D4-4AC7-96A3-09BC995F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05790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2F4F5B-16C1-41FC-A76A-F0F033A4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124575"/>
            <a:ext cx="371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DEA556-5193-493F-831D-C97FD4B1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0483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초기 고객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659545-5EB2-4945-BD9C-525499E1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3912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[도입기관·계약]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C41D9B-E1AB-4D4B-A301-83410A0D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048375"/>
            <a:ext cx="228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500324-D386-4C96-B1E8-70A1FF68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05500"/>
            <a:ext cx="32956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D595C4-3743-4E6E-AC5D-C1D95EEE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05790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8BBD8F-3290-43CB-B38C-08A0984F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124575"/>
            <a:ext cx="371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CB97D0-7933-4CC4-B4CC-7C99E695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0483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매출 확대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BCE2F2-FAA8-4D10-8AC9-0FA1CE16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912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[검사량·반복 구매]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9D3EB2-1443-4525-B3B5-6E2209A1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048375"/>
            <a:ext cx="228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E906F6-3135-4B04-873E-1E8B33C9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5905500"/>
            <a:ext cx="32956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CFFEA79-58B9-44D6-94EC-6CDA9C6C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05790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1EB87ED-A112-43C5-952E-DA54D58E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124575"/>
            <a:ext cx="371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253AB0-8D37-47A3-838D-6ED005B7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0483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장기 성장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C2D550B-0841-4B8B-BD63-EE249C2F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3912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[시장·후속 투자]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BEE238-DC29-498B-8999-30D5CF07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915150"/>
            <a:ext cx="1432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E054E66-699E-4C4A-B88C-2509E18E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00875"/>
            <a:ext cx="1409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[후속 투자·전략적 제휴·EXIT 계획 또는 미확정 상태]</a:t>
            </a:r>
          </a:p>
        </p:txBody>
      </p:sp>
    </p:spTree>
    <p:extLst>
      <p:ext uri="{BB962C8B-B14F-4D97-AF65-F5344CB8AC3E}">
        <p14:creationId xmlns:p14="http://schemas.microsoft.com/office/powerpoint/2010/main" val="173071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1DEE4-745B-496C-A592-AC5AE15E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28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8FD9B-64AC-4EA2-A2EA-B30D7634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524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APPENDIX A1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C6CFB-F2CD-4FDA-954A-7E05A81A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9100"/>
            <a:ext cx="95250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70C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6E105-B22E-4E3A-BECC-F6D5871F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90500"/>
            <a:ext cx="158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[기업명]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4D0D1-74C6-4D8D-BC3E-A183E0FA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검증 성과의 정의와 원본 근거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3B074-18D9-424D-9F01-C7C46A97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419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표본·기간·측정 방법·참조기준을 함께 기록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B70EA-DF9F-435A-AADD-BE95EDD2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620000"/>
            <a:ext cx="1419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자료: [문서명·페이지·기준일]  /  색상: [기업 IR의 대표색으로 교체]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75CD6-5C31-4E2C-9C10-CA82743C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67650"/>
            <a:ext cx="1419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※ 대괄호는 입력 슬롯입니다. 숫자 0은 차트 입력 전 빈 값이며 실제 실적·목표가 아닙니다.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0DB96-A9A1-4568-9958-733F9982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5775"/>
            <a:ext cx="15240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8EE9F-28F0-40A6-AE35-C31E49CD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143875"/>
            <a:ext cx="1381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[이 장표의 근거 있는 핵심 메시지]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57892-9FF9-4BD6-A466-6D057C54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172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1C293-6D28-47F5-A9F3-A79B1C75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478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4D2D8-F109-4025-8721-1A74DF20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원본 검증 자료와 핵심 지표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4E33F-CC82-4E0A-8EFD-55DE1A61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68008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66F209-D5B7-48FA-AFE2-8B3195EF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68008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59C0C-68A4-48DE-A22E-00B765C5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6800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6A9D8-417A-4C78-A856-C41B9478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653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원본 성능·고객·연구 이미지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7544BF-C7F5-418C-8CD4-1BC445E0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3531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B9723-369C-4970-83BA-803F8047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4763"/>
            <a:ext cx="6200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[증빙 원본 이미지 삽입]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347F8-E147-4074-8005-13A64C60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428875"/>
            <a:ext cx="7134225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0457D3-9F0E-43C6-8F19-D000B6BB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428875"/>
            <a:ext cx="71342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B9CDA-F287-46A7-AC07-056F6D72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667000"/>
            <a:ext cx="7134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2C10A-9BB4-4586-8440-14AF88A3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14600"/>
            <a:ext cx="6867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지표 정의와 해석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2488FF-1834-4D0E-93AE-89CEBE77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228975"/>
            <a:ext cx="660082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1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1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1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1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1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1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1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1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1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[대상·표본·시험 기간]</a:t>
            </a:r>
          </a:p>
          <a:p xmlns:a="http://schemas.openxmlformats.org/drawingml/2006/main">
            <a:pPr algn="l">
              <a:defRPr sz="21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[핵심 지표·단위]</a:t>
            </a:r>
          </a:p>
          <a:p xmlns:a="http://schemas.openxmlformats.org/drawingml/2006/main">
            <a:pPr algn="l">
              <a:defRPr sz="21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[방법·참조기준·한계]</a:t>
            </a:r>
          </a:p>
        </p:txBody>
      </p:sp>
      <p:graphicFrame>
        <p:nvGraphicFrame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D26C50-E94C-431A-9979-F33C275AB3F6}"/>
              </a:ext>
            </a:extLst>
          </p:cNvPr>
          <p:cNvGraphicFramePr/>
          <p:nvPr/>
        </p:nvGraphicFramePr>
        <p:xfrm>
          <a:off xmlns:a="http://schemas.openxmlformats.org/drawingml/2006/main" x="457200" y="5486400"/>
          <a:ext xmlns:a="http://schemas.openxmlformats.org/drawingml/2006/main" cx="143256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5191125"/>
                <a:gridCol w="5419725"/>
              </a:tblGrid>
              <a:tr h="485775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원자료 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원자료 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485775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대상·기간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[기준]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[기준]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485775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[값·단위]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[값·단위]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485775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 사항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[해석·차이]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[추가 확인]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0403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51293-F0DC-46AC-8078-E5A16332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28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B5F1A-1667-4B0A-A35D-413E33AE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524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APPENDIX A2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F9498-56B9-4A4F-A01F-C7A35797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9100"/>
            <a:ext cx="95250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70C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EC617-A644-4231-8E86-A287BBC2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90500"/>
            <a:ext cx="158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[기업명]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AC369-E0B3-4E28-B199-03351B21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제품별 개발·인허가 상태와 다음 관문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76029-532E-4E75-AA6E-487689AB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419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개발·검증·허가·상용화를 제품별로 구분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F6CF0-0C27-4B7F-BE2F-892A6603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620000"/>
            <a:ext cx="1419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자료: [문서명·페이지·기준일]  /  색상: [기업 IR의 대표색으로 교체]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C9733-CF72-46DF-A001-15907FA7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67650"/>
            <a:ext cx="1419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※ 대괄호는 입력 슬롯입니다. 숫자 0은 차트 입력 전 빈 값이며 실제 실적·목표가 아닙니다.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764E4-B616-44BC-9F4A-44ED3967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5775"/>
            <a:ext cx="15240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663B9-5926-43E1-94C8-776401F4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143875"/>
            <a:ext cx="1381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[이 장표의 근거 있는 핵심 메시지]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91F6F-4969-4754-A2D2-B13A2175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172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990CF-1F31-45C0-AC6F-47993858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478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D3456-06F9-4384-945F-AF52763F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품목별 상태 | 진행과 완료를 구분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F34994-CAFE-4A57-8117-AABCE28F806B}"/>
              </a:ext>
            </a:extLst>
          </p:cNvPr>
          <p:cNvGraphicFramePr/>
          <p:nvPr/>
        </p:nvGraphicFramePr>
        <p:xfrm>
          <a:off xmlns:a="http://schemas.openxmlformats.org/drawingml/2006/main" x="457200" y="2457450"/>
          <a:ext xmlns:a="http://schemas.openxmlformats.org/drawingml/2006/main" cx="143256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5524500"/>
                <a:gridCol w="5086350"/>
              </a:tblGrid>
              <a:tr h="809625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제품·기술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단계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다음 관문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809625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[제품 1]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[개발·검증·허가]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[필요 조치·시기]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809625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[제품 2]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[개발·검증·허가]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[필요 조치·시기]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809625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[제품 3]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[개발·검증·허가]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[필요 조치·시기]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809625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[제품 4]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[개발·검증·허가]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[필요 조치·시기]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A32EE-4F55-4DEA-8222-D2499B06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77050"/>
            <a:ext cx="143256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5893E-59D8-43E3-B67E-57C0E929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6277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[원본 시험보고서·인증·허가 문서 확인 항목]</a:t>
            </a:r>
          </a:p>
        </p:txBody>
      </p:sp>
    </p:spTree>
    <p:extLst>
      <p:ext uri="{BB962C8B-B14F-4D97-AF65-F5344CB8AC3E}">
        <p14:creationId xmlns:p14="http://schemas.microsoft.com/office/powerpoint/2010/main" val="6712833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A8956E-1C6D-461F-B21D-07B49BAD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28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66297-B930-4AB1-8C1E-BDD96246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524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APPENDIX A3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347EB-7371-43D5-A872-25FA8566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9100"/>
            <a:ext cx="95250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70C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074E6-3B52-4EB9-BFDA-A1BC8426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90500"/>
            <a:ext cx="158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[기업명]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2DDB5-024C-41E9-A42E-D09E14D2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투자유치 조건과 자금 사용 계획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AE980-E5DB-4337-A14A-3F77C340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419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현재 라운드 조건과 과거 과제계획의 목표를 구분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DAAA2-A104-4E47-98FB-DE83447F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620000"/>
            <a:ext cx="1419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자료: [문서명·페이지·기준일]  /  색상: [기업 IR의 대표색으로 교체]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3A9BB-6E67-4D09-AA86-9EA6BA7D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67650"/>
            <a:ext cx="1419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※ 대괄호는 입력 슬롯입니다. 숫자 0은 차트 입력 전 빈 값이며 실제 실적·목표가 아닙니다.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D6B19-96A4-4F72-B4F0-A17CE75D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5775"/>
            <a:ext cx="15240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B967E-9002-459F-BD17-3827166E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143875"/>
            <a:ext cx="1381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[이 장표의 근거 있는 핵심 메시지]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9F712-86D0-4781-980F-D98C7EC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172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CA67F-A827-4BF3-B321-713440A2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478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B649E-FCC8-4F39-821C-08B1F3A1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조달 조건과 자금 사용 | 회사 확정값 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E2302-4737-4AB1-A50D-2BF53BE8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4048125" cy="4171950"/>
          </a:xfrm>
          <a:prstGeom xmlns:a="http://schemas.openxmlformats.org/drawingml/2006/main" prst="roundRect">
            <a:avLst>
              <a:gd name="adj" fmla="val 1882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33E3D-03C0-460C-9504-7106F1D7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40481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11F440-F7D6-463C-856A-7C77D656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404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066A4-9D15-474A-B33F-6760168B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3781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현재 조달 조건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C1B811-C940-4A4E-BEA3-DE30034A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86125"/>
            <a:ext cx="34766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[투자유치 금액]</a:t>
            </a:r>
          </a:p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[기업가치·구조]</a:t>
            </a:r>
          </a:p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[조달·집행 기간]</a:t>
            </a:r>
          </a:p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[확정·협의 상태]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FC795-162E-4A73-A662-C60EEE57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4733925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4BBF8-6979-43FF-90E0-34505D57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47339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35965B-4473-481F-ABE1-2191E19D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47339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9C4128-1EC9-452C-82F9-4B28DF17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14600"/>
            <a:ext cx="4467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제품·기술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703E13-09DB-4E2E-BDD7-EAB1C464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209925"/>
            <a:ext cx="433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[세부 항목·마일스톤]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CDF43B-D987-4CC1-B558-25AB38FD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867150"/>
            <a:ext cx="4410075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7426D2-C356-4930-8E45-CAECB5D5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952875"/>
            <a:ext cx="4181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[금액·비중·집행 기간]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4D0550-AA28-4670-B658-4BC22636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428875"/>
            <a:ext cx="4733925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F12835-1006-4860-A091-5D4B87F0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428875"/>
            <a:ext cx="47339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72D391-FDAA-40F5-8BE7-1DE56771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67000"/>
            <a:ext cx="47339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5ECA77-206F-4DEC-8ACE-281F4FF5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514600"/>
            <a:ext cx="4467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검증·생산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DBAEC4-A8AA-4C5B-AA8A-C62899BB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209925"/>
            <a:ext cx="433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[세부 항목·마일스톤]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69B174-053D-4181-8B60-3160BAB5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67150"/>
            <a:ext cx="4410075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7ACAA8-50EE-48B8-AF2D-A0DA53A2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952875"/>
            <a:ext cx="4181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[금액·비중·집행 기간]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EE0406-E3F4-4C1C-8948-53C72C24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19625"/>
            <a:ext cx="4733925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A912A0-689D-4A38-AC15-0AD096FD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19625"/>
            <a:ext cx="47339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A7E116-30A8-4DDF-B86F-DDD088FC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57750"/>
            <a:ext cx="47339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ED36DE-910B-4569-BF3A-E1CC232E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705350"/>
            <a:ext cx="4467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시장·고객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3E29FC-A832-441B-B4DF-7EE644E4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400675"/>
            <a:ext cx="433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[세부 항목·마일스톤]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91FD74-7D1B-49DA-B790-011B1EBB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057900"/>
            <a:ext cx="4410075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887412-DD0E-40DC-8C6B-EBADA432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143625"/>
            <a:ext cx="4181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[금액·비중·집행 기간]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8070F3-C26D-40F9-A750-8C64493F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619625"/>
            <a:ext cx="4733925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B7CDE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861340-9BC8-45C3-8FED-E61DF0B3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619625"/>
            <a:ext cx="47339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7F634C-6387-4721-8CB1-6800DBBB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857750"/>
            <a:ext cx="47339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E4A0D2-8768-46F7-A01D-5418640A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705350"/>
            <a:ext cx="4467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운영·인력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7719D0-88E5-4455-820D-D15633FA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400675"/>
            <a:ext cx="433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[세부 항목·마일스톤]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AB9BFD-C472-4E6B-9BC5-40662B5E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057900"/>
            <a:ext cx="4410075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726795-E1F0-434A-B172-1C26AB2B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143625"/>
            <a:ext cx="4181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[금액·비중·집행 기간]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4A7ECC-82A5-4590-80B9-5C0D50A2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905625"/>
            <a:ext cx="143256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C24A2F-F1D7-471D-9A53-6A2E96BE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91350"/>
            <a:ext cx="1409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[배분 합계·조달액 일치 / 현금 잔고·월별 소진액으로 런웨이 산정]</a:t>
            </a:r>
          </a:p>
        </p:txBody>
      </p:sp>
    </p:spTree>
    <p:extLst>
      <p:ext uri="{BB962C8B-B14F-4D97-AF65-F5344CB8AC3E}">
        <p14:creationId xmlns:p14="http://schemas.microsoft.com/office/powerpoint/2010/main" val="12911715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D6A7F1-9D57-44ED-B505-B7AB4EE8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28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40822-1105-4044-806F-7E99030B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524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APPENDIX A4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4A7EF-DB38-4631-9D7A-E8433CAA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9100"/>
            <a:ext cx="95250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70C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0CD1F-9078-4DA5-A056-8D77568C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90500"/>
            <a:ext cx="158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[기업명]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BF98B-74A2-4867-A702-563D8C9F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428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원자료의 차이와 확인할 기준값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9301E-734F-4B47-9705-A4C371FB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419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0070C0"/>
                </a:solidFill>
                <a:latin typeface="Noto Sans KR"/>
                <a:ea typeface="Noto Sans KR"/>
                <a:cs typeface="Noto Sans KR"/>
              </a:rPr>
              <a:t>시점·대상범위·산식 차이를 확인한 뒤 수치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765DE-9114-4827-A69B-94D7B4C6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620000"/>
            <a:ext cx="1419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자료: [문서명·페이지·기준일]  /  색상: [기업 IR의 대표색으로 교체]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7B8CE-D389-444B-A257-F9B8E887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67650"/>
            <a:ext cx="1419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87390"/>
                </a:solidFill>
                <a:latin typeface="Noto Sans KR"/>
                <a:ea typeface="Noto Sans KR"/>
                <a:cs typeface="Noto Sans KR"/>
              </a:rPr>
              <a:t>※ 대괄호는 입력 슬롯입니다. 숫자 0은 차트 입력 전 빈 값이며 실제 실적·목표가 아닙니다.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C5D2A-A4E5-429A-9FFB-BD482A97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5775"/>
            <a:ext cx="15240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17BE3-E838-4B54-ABE5-6E9FEB2C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143875"/>
            <a:ext cx="1381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[이 장표의 근거 있는 핵심 메시지]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5D417-FC53-4E25-B76A-38761C66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172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263E4-18CD-484B-ADD2-16E7427E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478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CE8830-B112-49A1-8A7E-E385DAB9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재무 목표와 시점별 비교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31A7F-B70B-4F38-B8DA-AFEF3270A4C0}"/>
              </a:ext>
            </a:extLst>
          </p:cNvPr>
          <p:cNvGraphicFramePr/>
          <p:nvPr/>
        </p:nvGraphicFramePr>
        <p:xfrm>
          <a:off xmlns:a="http://schemas.openxmlformats.org/drawingml/2006/main" x="457200" y="2457450"/>
          <a:ext xmlns:a="http://schemas.openxmlformats.org/drawingml/2006/main" cx="143256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48100"/>
                <a:gridCol w="2095500"/>
                <a:gridCol w="2095500"/>
                <a:gridCol w="2095500"/>
                <a:gridCol w="2095500"/>
                <a:gridCol w="2095500"/>
              </a:tblGrid>
              <a:tr h="698500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[Y1]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[Y2]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[Y3]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[Y4]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[Y5]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698500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[자료 A·기준일]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[값]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[값]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[값]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[값]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[값]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698500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[자료 B·기준일]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[값]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[값]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[값]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[값]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[값]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C4249-2B31-4D21-BE73-ADE47400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911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D1AEE-362D-42A4-AAE0-F895F996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400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02060"/>
                </a:solidFill>
                <a:latin typeface="Noto Sans KR"/>
                <a:ea typeface="Noto Sans KR"/>
                <a:cs typeface="Noto Sans KR"/>
              </a:rPr>
              <a:t>기업 현황과 확인할 기준값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E3A4AC-C76C-4405-8C7E-643D85D934BB}"/>
              </a:ext>
            </a:extLst>
          </p:cNvPr>
          <p:cNvGraphicFramePr/>
          <p:nvPr/>
        </p:nvGraphicFramePr>
        <p:xfrm>
          <a:off xmlns:a="http://schemas.openxmlformats.org/drawingml/2006/main" x="457200" y="5419725"/>
          <a:ext xmlns:a="http://schemas.openxmlformats.org/drawingml/2006/main" cx="14325600" cy="2009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7715250"/>
                <a:gridCol w="4038600"/>
              </a:tblGrid>
              <a:tr h="502444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 간 차이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확인할 자료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T w="9525">
                      <a:solidFill>
                        <a:srgbClr val="B7CDE3"/>
                      </a:solidFill>
                    </a:lnT>
                    <a:lnB w="9525">
                      <a:solidFill>
                        <a:srgbClr val="B7CDE3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502444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[인원·조직]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[시점·범위 차이]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[인력 현황]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502444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[자본·투자]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[기재 값·시점 차이]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[등기·계약서]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502444"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[일정·실적]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DE3"/>
                      </a:solidFill>
                    </a:lnL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[기간·대상 차이]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 wrap="square" lIns="123825" tIns="104775" rIns="9525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0206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[협약·원장·증빙]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DE3"/>
                      </a:solidFill>
                    </a:lnR>
                    <a:lnB w="9525">
                      <a:solidFill>
                        <a:srgbClr val="B7CDE3"/>
                      </a:solidFill>
                    </a:lnB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2804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2026-10-27T13:36:10.7960000Z</dcterms:created>
  <dcterms:modified xsi:type="dcterms:W3CDTF">2026-10-27T13:36:10.7970000Z</dcterms:modified>
</coreProperties>
</file>